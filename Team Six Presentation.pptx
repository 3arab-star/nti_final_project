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Open Sauce Bold" panose="020B0604020202020204" charset="0"/>
      <p:regular r:id="rId15"/>
    </p:embeddedFont>
    <p:embeddedFont>
      <p:font typeface="TT Interphases" panose="020B0604020202020204" charset="0"/>
      <p:regular r:id="rId16"/>
    </p:embeddedFont>
    <p:embeddedFont>
      <p:font typeface="TT Interphases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5" d="100"/>
          <a:sy n="55" d="100"/>
        </p:scale>
        <p:origin x="841" y="7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322A"/>
        </a:solidFill>
        <a:effectLst/>
      </p:bgPr>
    </p:bg>
    <p:spTree>
      <p:nvGrpSpPr>
        <p:cNvPr id="1" name=""/>
        <p:cNvGrpSpPr/>
        <p:nvPr/>
      </p:nvGrpSpPr>
      <p:grpSpPr>
        <a:xfrm>
          <a:off x="0" y="0"/>
          <a:ext cx="0" cy="0"/>
          <a:chOff x="0" y="0"/>
          <a:chExt cx="0" cy="0"/>
        </a:xfrm>
      </p:grpSpPr>
      <p:sp>
        <p:nvSpPr>
          <p:cNvPr id="2" name="TextBox 2"/>
          <p:cNvSpPr txBox="1"/>
          <p:nvPr/>
        </p:nvSpPr>
        <p:spPr>
          <a:xfrm>
            <a:off x="1028700" y="1390650"/>
            <a:ext cx="9910289" cy="5543652"/>
          </a:xfrm>
          <a:prstGeom prst="rect">
            <a:avLst/>
          </a:prstGeom>
        </p:spPr>
        <p:txBody>
          <a:bodyPr lIns="0" tIns="0" rIns="0" bIns="0" rtlCol="0" anchor="t">
            <a:spAutoFit/>
          </a:bodyPr>
          <a:lstStyle/>
          <a:p>
            <a:pPr algn="l">
              <a:lnSpc>
                <a:spcPts val="14250"/>
              </a:lnSpc>
            </a:pPr>
            <a:r>
              <a:rPr lang="en-US" sz="15000" b="1">
                <a:solidFill>
                  <a:srgbClr val="FFFFFF"/>
                </a:solidFill>
                <a:latin typeface="Open Sauce Bold"/>
                <a:ea typeface="Open Sauce Bold"/>
                <a:cs typeface="Open Sauce Bold"/>
                <a:sym typeface="Open Sauce Bold"/>
              </a:rPr>
              <a:t>RETAIL REPORT </a:t>
            </a:r>
            <a:r>
              <a:rPr lang="en-US" sz="15000" b="1">
                <a:solidFill>
                  <a:srgbClr val="C9F1B7"/>
                </a:solidFill>
                <a:latin typeface="Open Sauce Bold"/>
                <a:ea typeface="Open Sauce Bold"/>
                <a:cs typeface="Open Sauce Bold"/>
                <a:sym typeface="Open Sauce Bold"/>
              </a:rPr>
              <a:t>2027</a:t>
            </a:r>
          </a:p>
        </p:txBody>
      </p:sp>
      <p:grpSp>
        <p:nvGrpSpPr>
          <p:cNvPr id="3" name="Group 3"/>
          <p:cNvGrpSpPr/>
          <p:nvPr/>
        </p:nvGrpSpPr>
        <p:grpSpPr>
          <a:xfrm rot="5400000">
            <a:off x="11474320" y="1149220"/>
            <a:ext cx="5905500" cy="5664459"/>
            <a:chOff x="0" y="0"/>
            <a:chExt cx="622300" cy="596900"/>
          </a:xfrm>
        </p:grpSpPr>
        <p:sp>
          <p:nvSpPr>
            <p:cNvPr id="4" name="Freeform 4"/>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C9F1B7">
                    <a:alpha val="100000"/>
                  </a:srgbClr>
                </a:gs>
                <a:gs pos="100000">
                  <a:srgbClr val="C9F1B8">
                    <a:alpha val="0"/>
                  </a:srgbClr>
                </a:gs>
              </a:gsLst>
              <a:lin ang="0"/>
            </a:gradFill>
          </p:spPr>
          <p:txBody>
            <a:bodyPr/>
            <a:lstStyle/>
            <a:p>
              <a:endParaRPr lang="en-US"/>
            </a:p>
          </p:txBody>
        </p:sp>
        <p:sp>
          <p:nvSpPr>
            <p:cNvPr id="5" name="TextBox 5"/>
            <p:cNvSpPr txBox="1"/>
            <p:nvPr/>
          </p:nvSpPr>
          <p:spPr>
            <a:xfrm>
              <a:off x="0" y="155575"/>
              <a:ext cx="622300" cy="314325"/>
            </a:xfrm>
            <a:prstGeom prst="rect">
              <a:avLst/>
            </a:prstGeom>
          </p:spPr>
          <p:txBody>
            <a:bodyPr lIns="50800" tIns="50800" rIns="50800" bIns="50800" rtlCol="0" anchor="ctr"/>
            <a:lstStyle/>
            <a:p>
              <a:pPr algn="ctr">
                <a:lnSpc>
                  <a:spcPts val="1890"/>
                </a:lnSpc>
              </a:pPr>
              <a:endParaRPr/>
            </a:p>
          </p:txBody>
        </p:sp>
      </p:grpSp>
      <p:sp>
        <p:nvSpPr>
          <p:cNvPr id="6" name="AutoShape 6"/>
          <p:cNvSpPr/>
          <p:nvPr/>
        </p:nvSpPr>
        <p:spPr>
          <a:xfrm>
            <a:off x="1028700" y="9263062"/>
            <a:ext cx="16230600" cy="0"/>
          </a:xfrm>
          <a:prstGeom prst="line">
            <a:avLst/>
          </a:prstGeom>
          <a:ln w="9525" cap="flat">
            <a:solidFill>
              <a:srgbClr val="FFFFFF"/>
            </a:solidFill>
            <a:prstDash val="solid"/>
            <a:headEnd type="none" w="sm" len="sm"/>
            <a:tailEnd type="none" w="sm" len="sm"/>
          </a:ln>
        </p:spPr>
        <p:txBody>
          <a:bodyPr/>
          <a:lstStyle/>
          <a:p>
            <a:endParaRPr lang="en-US"/>
          </a:p>
        </p:txBody>
      </p:sp>
      <p:sp>
        <p:nvSpPr>
          <p:cNvPr id="7" name="AutoShape 7"/>
          <p:cNvSpPr/>
          <p:nvPr/>
        </p:nvSpPr>
        <p:spPr>
          <a:xfrm>
            <a:off x="1028700" y="8008325"/>
            <a:ext cx="16230600" cy="0"/>
          </a:xfrm>
          <a:prstGeom prst="line">
            <a:avLst/>
          </a:prstGeom>
          <a:ln w="9525" cap="flat">
            <a:solidFill>
              <a:srgbClr val="FFFFFF"/>
            </a:solidFill>
            <a:prstDash val="solid"/>
            <a:headEnd type="none" w="sm" len="sm"/>
            <a:tailEnd type="none" w="sm" len="sm"/>
          </a:ln>
        </p:spPr>
        <p:txBody>
          <a:bodyPr/>
          <a:lstStyle/>
          <a:p>
            <a:endParaRPr lang="en-US"/>
          </a:p>
        </p:txBody>
      </p:sp>
      <p:sp>
        <p:nvSpPr>
          <p:cNvPr id="8" name="Freeform 8"/>
          <p:cNvSpPr/>
          <p:nvPr/>
        </p:nvSpPr>
        <p:spPr>
          <a:xfrm>
            <a:off x="1122538" y="8298509"/>
            <a:ext cx="817714" cy="674370"/>
          </a:xfrm>
          <a:custGeom>
            <a:avLst/>
            <a:gdLst/>
            <a:ahLst/>
            <a:cxnLst/>
            <a:rect l="l" t="t" r="r" b="b"/>
            <a:pathLst>
              <a:path w="817714" h="674370">
                <a:moveTo>
                  <a:pt x="0" y="0"/>
                </a:moveTo>
                <a:lnTo>
                  <a:pt x="817714" y="0"/>
                </a:lnTo>
                <a:lnTo>
                  <a:pt x="817714" y="674370"/>
                </a:lnTo>
                <a:lnTo>
                  <a:pt x="0" y="6743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9" name="TextBox 9"/>
          <p:cNvSpPr txBox="1"/>
          <p:nvPr/>
        </p:nvSpPr>
        <p:spPr>
          <a:xfrm>
            <a:off x="12953052" y="8729021"/>
            <a:ext cx="4094573" cy="243823"/>
          </a:xfrm>
          <a:prstGeom prst="rect">
            <a:avLst/>
          </a:prstGeom>
        </p:spPr>
        <p:txBody>
          <a:bodyPr lIns="0" tIns="0" rIns="0" bIns="0" rtlCol="0" anchor="t">
            <a:spAutoFit/>
          </a:bodyPr>
          <a:lstStyle/>
          <a:p>
            <a:pPr algn="r">
              <a:lnSpc>
                <a:spcPts val="1890"/>
              </a:lnSpc>
            </a:pPr>
            <a:r>
              <a:rPr lang="en-US" sz="1800">
                <a:solidFill>
                  <a:srgbClr val="FFFFFF"/>
                </a:solidFill>
                <a:latin typeface="TT Interphases"/>
                <a:ea typeface="TT Interphases"/>
                <a:cs typeface="TT Interphases"/>
                <a:sym typeface="TT Interphases"/>
              </a:rPr>
              <a:t>WWW.FOX_REPO.COM</a:t>
            </a:r>
          </a:p>
        </p:txBody>
      </p:sp>
      <p:sp>
        <p:nvSpPr>
          <p:cNvPr id="10" name="TextBox 10"/>
          <p:cNvSpPr txBox="1"/>
          <p:nvPr/>
        </p:nvSpPr>
        <p:spPr>
          <a:xfrm>
            <a:off x="2157277" y="8544271"/>
            <a:ext cx="2455159" cy="340964"/>
          </a:xfrm>
          <a:prstGeom prst="rect">
            <a:avLst/>
          </a:prstGeom>
        </p:spPr>
        <p:txBody>
          <a:bodyPr lIns="0" tIns="0" rIns="0" bIns="0" rtlCol="0" anchor="t">
            <a:spAutoFit/>
          </a:bodyPr>
          <a:lstStyle/>
          <a:p>
            <a:pPr algn="l">
              <a:lnSpc>
                <a:spcPts val="2520"/>
              </a:lnSpc>
            </a:pPr>
            <a:r>
              <a:rPr lang="en-US" sz="2400" b="1">
                <a:solidFill>
                  <a:srgbClr val="FFFFFF"/>
                </a:solidFill>
                <a:latin typeface="TT Interphases Bold"/>
                <a:ea typeface="TT Interphases Bold"/>
                <a:cs typeface="TT Interphases Bold"/>
                <a:sym typeface="TT Interphases Bold"/>
              </a:rPr>
              <a:t>TEAM 6</a:t>
            </a:r>
          </a:p>
        </p:txBody>
      </p:sp>
      <p:sp>
        <p:nvSpPr>
          <p:cNvPr id="11" name="TextBox 11"/>
          <p:cNvSpPr txBox="1"/>
          <p:nvPr/>
        </p:nvSpPr>
        <p:spPr>
          <a:xfrm>
            <a:off x="9144000" y="8494724"/>
            <a:ext cx="3589977" cy="478121"/>
          </a:xfrm>
          <a:prstGeom prst="rect">
            <a:avLst/>
          </a:prstGeom>
        </p:spPr>
        <p:txBody>
          <a:bodyPr lIns="0" tIns="0" rIns="0" bIns="0" rtlCol="0" anchor="t">
            <a:spAutoFit/>
          </a:bodyPr>
          <a:lstStyle/>
          <a:p>
            <a:pPr algn="l">
              <a:lnSpc>
                <a:spcPts val="3780"/>
              </a:lnSpc>
            </a:pPr>
            <a:r>
              <a:rPr lang="en-US" sz="3600" b="1">
                <a:solidFill>
                  <a:srgbClr val="C9F1B7"/>
                </a:solidFill>
                <a:latin typeface="TT Interphases Bold"/>
                <a:ea typeface="TT Interphases Bold"/>
                <a:cs typeface="TT Interphases Bold"/>
                <a:sym typeface="TT Interphases Bold"/>
              </a:rPr>
              <a:t>SEPTEMBER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9F1B7"/>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733675"/>
            <a:ext cx="952500" cy="952500"/>
            <a:chOff x="0" y="0"/>
            <a:chExt cx="713005" cy="713005"/>
          </a:xfrm>
        </p:grpSpPr>
        <p:sp>
          <p:nvSpPr>
            <p:cNvPr id="3" name="Freeform 3"/>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FFFFFF"/>
            </a:solidFill>
          </p:spPr>
          <p:txBody>
            <a:bodyPr/>
            <a:lstStyle/>
            <a:p>
              <a:endParaRPr lang="en-US"/>
            </a:p>
          </p:txBody>
        </p:sp>
        <p:sp>
          <p:nvSpPr>
            <p:cNvPr id="4" name="TextBox 4"/>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01</a:t>
              </a:r>
            </a:p>
          </p:txBody>
        </p:sp>
      </p:grpSp>
      <p:grpSp>
        <p:nvGrpSpPr>
          <p:cNvPr id="5" name="Group 5"/>
          <p:cNvGrpSpPr/>
          <p:nvPr/>
        </p:nvGrpSpPr>
        <p:grpSpPr>
          <a:xfrm>
            <a:off x="9498666" y="2733675"/>
            <a:ext cx="952500" cy="952500"/>
            <a:chOff x="0" y="0"/>
            <a:chExt cx="713005" cy="713005"/>
          </a:xfrm>
        </p:grpSpPr>
        <p:sp>
          <p:nvSpPr>
            <p:cNvPr id="6" name="Freeform 6"/>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FFFFFF"/>
            </a:solidFill>
          </p:spPr>
          <p:txBody>
            <a:bodyPr/>
            <a:lstStyle/>
            <a:p>
              <a:endParaRPr lang="en-US"/>
            </a:p>
          </p:txBody>
        </p:sp>
        <p:sp>
          <p:nvSpPr>
            <p:cNvPr id="7" name="TextBox 7"/>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06</a:t>
              </a:r>
            </a:p>
          </p:txBody>
        </p:sp>
      </p:grpSp>
      <p:grpSp>
        <p:nvGrpSpPr>
          <p:cNvPr id="8" name="Group 8"/>
          <p:cNvGrpSpPr/>
          <p:nvPr/>
        </p:nvGrpSpPr>
        <p:grpSpPr>
          <a:xfrm>
            <a:off x="1028700" y="5419725"/>
            <a:ext cx="952500" cy="952500"/>
            <a:chOff x="0" y="0"/>
            <a:chExt cx="713005" cy="713005"/>
          </a:xfrm>
        </p:grpSpPr>
        <p:sp>
          <p:nvSpPr>
            <p:cNvPr id="9" name="Freeform 9"/>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FFFFFF"/>
            </a:solidFill>
          </p:spPr>
          <p:txBody>
            <a:bodyPr/>
            <a:lstStyle/>
            <a:p>
              <a:endParaRPr lang="en-US"/>
            </a:p>
          </p:txBody>
        </p:sp>
        <p:sp>
          <p:nvSpPr>
            <p:cNvPr id="10" name="TextBox 10"/>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03</a:t>
              </a:r>
            </a:p>
          </p:txBody>
        </p:sp>
      </p:grpSp>
      <p:grpSp>
        <p:nvGrpSpPr>
          <p:cNvPr id="11" name="Group 11"/>
          <p:cNvGrpSpPr/>
          <p:nvPr/>
        </p:nvGrpSpPr>
        <p:grpSpPr>
          <a:xfrm>
            <a:off x="9498666" y="5419725"/>
            <a:ext cx="952500" cy="952500"/>
            <a:chOff x="0" y="0"/>
            <a:chExt cx="713005" cy="713005"/>
          </a:xfrm>
        </p:grpSpPr>
        <p:sp>
          <p:nvSpPr>
            <p:cNvPr id="12" name="Freeform 12"/>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FFFFFF"/>
            </a:solidFill>
          </p:spPr>
          <p:txBody>
            <a:bodyPr/>
            <a:lstStyle/>
            <a:p>
              <a:endParaRPr lang="en-US"/>
            </a:p>
          </p:txBody>
        </p:sp>
        <p:sp>
          <p:nvSpPr>
            <p:cNvPr id="13" name="TextBox 13"/>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08</a:t>
              </a:r>
            </a:p>
          </p:txBody>
        </p:sp>
      </p:grpSp>
      <p:grpSp>
        <p:nvGrpSpPr>
          <p:cNvPr id="14" name="Group 14"/>
          <p:cNvGrpSpPr/>
          <p:nvPr/>
        </p:nvGrpSpPr>
        <p:grpSpPr>
          <a:xfrm>
            <a:off x="1028700" y="6762750"/>
            <a:ext cx="952500" cy="952500"/>
            <a:chOff x="0" y="0"/>
            <a:chExt cx="713005" cy="713005"/>
          </a:xfrm>
        </p:grpSpPr>
        <p:sp>
          <p:nvSpPr>
            <p:cNvPr id="15" name="Freeform 15"/>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FFFFFF"/>
            </a:solidFill>
          </p:spPr>
          <p:txBody>
            <a:bodyPr/>
            <a:lstStyle/>
            <a:p>
              <a:endParaRPr lang="en-US"/>
            </a:p>
          </p:txBody>
        </p:sp>
        <p:sp>
          <p:nvSpPr>
            <p:cNvPr id="16" name="TextBox 16"/>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04</a:t>
              </a:r>
            </a:p>
          </p:txBody>
        </p:sp>
      </p:grpSp>
      <p:grpSp>
        <p:nvGrpSpPr>
          <p:cNvPr id="17" name="Group 17"/>
          <p:cNvGrpSpPr/>
          <p:nvPr/>
        </p:nvGrpSpPr>
        <p:grpSpPr>
          <a:xfrm>
            <a:off x="9498666" y="6762750"/>
            <a:ext cx="952500" cy="952500"/>
            <a:chOff x="0" y="0"/>
            <a:chExt cx="713005" cy="713005"/>
          </a:xfrm>
        </p:grpSpPr>
        <p:sp>
          <p:nvSpPr>
            <p:cNvPr id="18" name="Freeform 18"/>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FFFFFF"/>
            </a:solidFill>
          </p:spPr>
          <p:txBody>
            <a:bodyPr/>
            <a:lstStyle/>
            <a:p>
              <a:endParaRPr lang="en-US"/>
            </a:p>
          </p:txBody>
        </p:sp>
        <p:sp>
          <p:nvSpPr>
            <p:cNvPr id="19" name="TextBox 19"/>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09</a:t>
              </a:r>
            </a:p>
          </p:txBody>
        </p:sp>
      </p:grpSp>
      <p:grpSp>
        <p:nvGrpSpPr>
          <p:cNvPr id="20" name="Group 20"/>
          <p:cNvGrpSpPr/>
          <p:nvPr/>
        </p:nvGrpSpPr>
        <p:grpSpPr>
          <a:xfrm>
            <a:off x="1028700" y="8105775"/>
            <a:ext cx="952500" cy="952500"/>
            <a:chOff x="0" y="0"/>
            <a:chExt cx="713005" cy="713005"/>
          </a:xfrm>
        </p:grpSpPr>
        <p:sp>
          <p:nvSpPr>
            <p:cNvPr id="21" name="Freeform 21"/>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FFFFFF"/>
            </a:solidFill>
          </p:spPr>
          <p:txBody>
            <a:bodyPr/>
            <a:lstStyle/>
            <a:p>
              <a:endParaRPr lang="en-US"/>
            </a:p>
          </p:txBody>
        </p:sp>
        <p:sp>
          <p:nvSpPr>
            <p:cNvPr id="22" name="TextBox 22"/>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05</a:t>
              </a:r>
            </a:p>
          </p:txBody>
        </p:sp>
      </p:grpSp>
      <p:grpSp>
        <p:nvGrpSpPr>
          <p:cNvPr id="23" name="Group 23"/>
          <p:cNvGrpSpPr/>
          <p:nvPr/>
        </p:nvGrpSpPr>
        <p:grpSpPr>
          <a:xfrm>
            <a:off x="9498666" y="8105775"/>
            <a:ext cx="952500" cy="952500"/>
            <a:chOff x="0" y="0"/>
            <a:chExt cx="713005" cy="713005"/>
          </a:xfrm>
        </p:grpSpPr>
        <p:sp>
          <p:nvSpPr>
            <p:cNvPr id="24" name="Freeform 24"/>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FFFFFF"/>
            </a:solidFill>
          </p:spPr>
          <p:txBody>
            <a:bodyPr/>
            <a:lstStyle/>
            <a:p>
              <a:endParaRPr lang="en-US"/>
            </a:p>
          </p:txBody>
        </p:sp>
        <p:sp>
          <p:nvSpPr>
            <p:cNvPr id="25" name="TextBox 25"/>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10</a:t>
              </a:r>
            </a:p>
          </p:txBody>
        </p:sp>
      </p:grpSp>
      <p:grpSp>
        <p:nvGrpSpPr>
          <p:cNvPr id="26" name="Group 26"/>
          <p:cNvGrpSpPr/>
          <p:nvPr/>
        </p:nvGrpSpPr>
        <p:grpSpPr>
          <a:xfrm>
            <a:off x="1028700" y="4076700"/>
            <a:ext cx="952500" cy="952500"/>
            <a:chOff x="0" y="0"/>
            <a:chExt cx="713005" cy="713005"/>
          </a:xfrm>
        </p:grpSpPr>
        <p:sp>
          <p:nvSpPr>
            <p:cNvPr id="27" name="Freeform 27"/>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FFFFFF"/>
            </a:solidFill>
          </p:spPr>
          <p:txBody>
            <a:bodyPr/>
            <a:lstStyle/>
            <a:p>
              <a:endParaRPr lang="en-US"/>
            </a:p>
          </p:txBody>
        </p:sp>
        <p:sp>
          <p:nvSpPr>
            <p:cNvPr id="28" name="TextBox 28"/>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02</a:t>
              </a:r>
            </a:p>
          </p:txBody>
        </p:sp>
      </p:grpSp>
      <p:grpSp>
        <p:nvGrpSpPr>
          <p:cNvPr id="29" name="Group 29"/>
          <p:cNvGrpSpPr/>
          <p:nvPr/>
        </p:nvGrpSpPr>
        <p:grpSpPr>
          <a:xfrm>
            <a:off x="9498666" y="4076700"/>
            <a:ext cx="952500" cy="952500"/>
            <a:chOff x="0" y="0"/>
            <a:chExt cx="713005" cy="713005"/>
          </a:xfrm>
        </p:grpSpPr>
        <p:sp>
          <p:nvSpPr>
            <p:cNvPr id="30" name="Freeform 30"/>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FFFFFF"/>
            </a:solidFill>
          </p:spPr>
          <p:txBody>
            <a:bodyPr/>
            <a:lstStyle/>
            <a:p>
              <a:endParaRPr lang="en-US"/>
            </a:p>
          </p:txBody>
        </p:sp>
        <p:sp>
          <p:nvSpPr>
            <p:cNvPr id="31" name="TextBox 31"/>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07</a:t>
              </a:r>
            </a:p>
          </p:txBody>
        </p:sp>
      </p:grpSp>
      <p:sp>
        <p:nvSpPr>
          <p:cNvPr id="32" name="AutoShape 32"/>
          <p:cNvSpPr/>
          <p:nvPr/>
        </p:nvSpPr>
        <p:spPr>
          <a:xfrm>
            <a:off x="1028700" y="3881437"/>
            <a:ext cx="7756992" cy="0"/>
          </a:xfrm>
          <a:prstGeom prst="line">
            <a:avLst/>
          </a:prstGeom>
          <a:ln w="9525" cap="flat">
            <a:solidFill>
              <a:srgbClr val="1B322A"/>
            </a:solidFill>
            <a:prstDash val="solid"/>
            <a:headEnd type="none" w="sm" len="sm"/>
            <a:tailEnd type="none" w="sm" len="sm"/>
          </a:ln>
        </p:spPr>
        <p:txBody>
          <a:bodyPr/>
          <a:lstStyle/>
          <a:p>
            <a:endParaRPr lang="en-US"/>
          </a:p>
        </p:txBody>
      </p:sp>
      <p:sp>
        <p:nvSpPr>
          <p:cNvPr id="33" name="AutoShape 33"/>
          <p:cNvSpPr/>
          <p:nvPr/>
        </p:nvSpPr>
        <p:spPr>
          <a:xfrm>
            <a:off x="9498666" y="3881437"/>
            <a:ext cx="7756992" cy="0"/>
          </a:xfrm>
          <a:prstGeom prst="line">
            <a:avLst/>
          </a:prstGeom>
          <a:ln w="9525" cap="flat">
            <a:solidFill>
              <a:srgbClr val="1B322A"/>
            </a:solidFill>
            <a:prstDash val="solid"/>
            <a:headEnd type="none" w="sm" len="sm"/>
            <a:tailEnd type="none" w="sm" len="sm"/>
          </a:ln>
        </p:spPr>
        <p:txBody>
          <a:bodyPr/>
          <a:lstStyle/>
          <a:p>
            <a:endParaRPr lang="en-US"/>
          </a:p>
        </p:txBody>
      </p:sp>
      <p:sp>
        <p:nvSpPr>
          <p:cNvPr id="34" name="AutoShape 34"/>
          <p:cNvSpPr/>
          <p:nvPr/>
        </p:nvSpPr>
        <p:spPr>
          <a:xfrm>
            <a:off x="1028700" y="5224462"/>
            <a:ext cx="7756992" cy="0"/>
          </a:xfrm>
          <a:prstGeom prst="line">
            <a:avLst/>
          </a:prstGeom>
          <a:ln w="9525" cap="flat">
            <a:solidFill>
              <a:srgbClr val="1B322A"/>
            </a:solidFill>
            <a:prstDash val="solid"/>
            <a:headEnd type="none" w="sm" len="sm"/>
            <a:tailEnd type="none" w="sm" len="sm"/>
          </a:ln>
        </p:spPr>
        <p:txBody>
          <a:bodyPr/>
          <a:lstStyle/>
          <a:p>
            <a:endParaRPr lang="en-US"/>
          </a:p>
        </p:txBody>
      </p:sp>
      <p:sp>
        <p:nvSpPr>
          <p:cNvPr id="35" name="AutoShape 35"/>
          <p:cNvSpPr/>
          <p:nvPr/>
        </p:nvSpPr>
        <p:spPr>
          <a:xfrm>
            <a:off x="9498666" y="5224462"/>
            <a:ext cx="7756992" cy="0"/>
          </a:xfrm>
          <a:prstGeom prst="line">
            <a:avLst/>
          </a:prstGeom>
          <a:ln w="9525" cap="flat">
            <a:solidFill>
              <a:srgbClr val="1B322A"/>
            </a:solidFill>
            <a:prstDash val="solid"/>
            <a:headEnd type="none" w="sm" len="sm"/>
            <a:tailEnd type="none" w="sm" len="sm"/>
          </a:ln>
        </p:spPr>
        <p:txBody>
          <a:bodyPr/>
          <a:lstStyle/>
          <a:p>
            <a:endParaRPr lang="en-US"/>
          </a:p>
        </p:txBody>
      </p:sp>
      <p:sp>
        <p:nvSpPr>
          <p:cNvPr id="36" name="AutoShape 36"/>
          <p:cNvSpPr/>
          <p:nvPr/>
        </p:nvSpPr>
        <p:spPr>
          <a:xfrm>
            <a:off x="1028700" y="6567487"/>
            <a:ext cx="7756992" cy="0"/>
          </a:xfrm>
          <a:prstGeom prst="line">
            <a:avLst/>
          </a:prstGeom>
          <a:ln w="9525" cap="flat">
            <a:solidFill>
              <a:srgbClr val="1B322A"/>
            </a:solidFill>
            <a:prstDash val="solid"/>
            <a:headEnd type="none" w="sm" len="sm"/>
            <a:tailEnd type="none" w="sm" len="sm"/>
          </a:ln>
        </p:spPr>
        <p:txBody>
          <a:bodyPr/>
          <a:lstStyle/>
          <a:p>
            <a:endParaRPr lang="en-US"/>
          </a:p>
        </p:txBody>
      </p:sp>
      <p:sp>
        <p:nvSpPr>
          <p:cNvPr id="37" name="AutoShape 37"/>
          <p:cNvSpPr/>
          <p:nvPr/>
        </p:nvSpPr>
        <p:spPr>
          <a:xfrm>
            <a:off x="9498666" y="6567487"/>
            <a:ext cx="7756992" cy="0"/>
          </a:xfrm>
          <a:prstGeom prst="line">
            <a:avLst/>
          </a:prstGeom>
          <a:ln w="9525" cap="flat">
            <a:solidFill>
              <a:srgbClr val="1B322A"/>
            </a:solidFill>
            <a:prstDash val="solid"/>
            <a:headEnd type="none" w="sm" len="sm"/>
            <a:tailEnd type="none" w="sm" len="sm"/>
          </a:ln>
        </p:spPr>
        <p:txBody>
          <a:bodyPr/>
          <a:lstStyle/>
          <a:p>
            <a:endParaRPr lang="en-US"/>
          </a:p>
        </p:txBody>
      </p:sp>
      <p:sp>
        <p:nvSpPr>
          <p:cNvPr id="38" name="AutoShape 38"/>
          <p:cNvSpPr/>
          <p:nvPr/>
        </p:nvSpPr>
        <p:spPr>
          <a:xfrm>
            <a:off x="1028700" y="7910512"/>
            <a:ext cx="7756992" cy="0"/>
          </a:xfrm>
          <a:prstGeom prst="line">
            <a:avLst/>
          </a:prstGeom>
          <a:ln w="9525" cap="flat">
            <a:solidFill>
              <a:srgbClr val="1B322A"/>
            </a:solidFill>
            <a:prstDash val="solid"/>
            <a:headEnd type="none" w="sm" len="sm"/>
            <a:tailEnd type="none" w="sm" len="sm"/>
          </a:ln>
        </p:spPr>
        <p:txBody>
          <a:bodyPr/>
          <a:lstStyle/>
          <a:p>
            <a:endParaRPr lang="en-US"/>
          </a:p>
        </p:txBody>
      </p:sp>
      <p:sp>
        <p:nvSpPr>
          <p:cNvPr id="39" name="AutoShape 39"/>
          <p:cNvSpPr/>
          <p:nvPr/>
        </p:nvSpPr>
        <p:spPr>
          <a:xfrm>
            <a:off x="9498666" y="7910512"/>
            <a:ext cx="7756992" cy="0"/>
          </a:xfrm>
          <a:prstGeom prst="line">
            <a:avLst/>
          </a:prstGeom>
          <a:ln w="9525" cap="flat">
            <a:solidFill>
              <a:srgbClr val="1B322A"/>
            </a:solidFill>
            <a:prstDash val="solid"/>
            <a:headEnd type="none" w="sm" len="sm"/>
            <a:tailEnd type="none" w="sm" len="sm"/>
          </a:ln>
        </p:spPr>
        <p:txBody>
          <a:bodyPr/>
          <a:lstStyle/>
          <a:p>
            <a:endParaRPr lang="en-US"/>
          </a:p>
        </p:txBody>
      </p:sp>
      <p:sp>
        <p:nvSpPr>
          <p:cNvPr id="40" name="AutoShape 40"/>
          <p:cNvSpPr/>
          <p:nvPr/>
        </p:nvSpPr>
        <p:spPr>
          <a:xfrm>
            <a:off x="1028700" y="9253537"/>
            <a:ext cx="7756992" cy="0"/>
          </a:xfrm>
          <a:prstGeom prst="line">
            <a:avLst/>
          </a:prstGeom>
          <a:ln w="9525" cap="flat">
            <a:solidFill>
              <a:srgbClr val="1B322A"/>
            </a:solidFill>
            <a:prstDash val="solid"/>
            <a:headEnd type="none" w="sm" len="sm"/>
            <a:tailEnd type="none" w="sm" len="sm"/>
          </a:ln>
        </p:spPr>
        <p:txBody>
          <a:bodyPr/>
          <a:lstStyle/>
          <a:p>
            <a:endParaRPr lang="en-US"/>
          </a:p>
        </p:txBody>
      </p:sp>
      <p:sp>
        <p:nvSpPr>
          <p:cNvPr id="41" name="AutoShape 41"/>
          <p:cNvSpPr/>
          <p:nvPr/>
        </p:nvSpPr>
        <p:spPr>
          <a:xfrm>
            <a:off x="9498666" y="9253537"/>
            <a:ext cx="7756992" cy="0"/>
          </a:xfrm>
          <a:prstGeom prst="line">
            <a:avLst/>
          </a:prstGeom>
          <a:ln w="9525" cap="flat">
            <a:solidFill>
              <a:srgbClr val="1B322A"/>
            </a:solidFill>
            <a:prstDash val="solid"/>
            <a:headEnd type="none" w="sm" len="sm"/>
            <a:tailEnd type="none" w="sm" len="sm"/>
          </a:ln>
        </p:spPr>
        <p:txBody>
          <a:bodyPr/>
          <a:lstStyle/>
          <a:p>
            <a:endParaRPr lang="en-US"/>
          </a:p>
        </p:txBody>
      </p:sp>
      <p:sp>
        <p:nvSpPr>
          <p:cNvPr id="42" name="AutoShape 42"/>
          <p:cNvSpPr/>
          <p:nvPr/>
        </p:nvSpPr>
        <p:spPr>
          <a:xfrm>
            <a:off x="1028700" y="2538412"/>
            <a:ext cx="7756992" cy="0"/>
          </a:xfrm>
          <a:prstGeom prst="line">
            <a:avLst/>
          </a:prstGeom>
          <a:ln w="9525" cap="flat">
            <a:solidFill>
              <a:srgbClr val="1B322A"/>
            </a:solidFill>
            <a:prstDash val="solid"/>
            <a:headEnd type="none" w="sm" len="sm"/>
            <a:tailEnd type="none" w="sm" len="sm"/>
          </a:ln>
        </p:spPr>
        <p:txBody>
          <a:bodyPr/>
          <a:lstStyle/>
          <a:p>
            <a:endParaRPr lang="en-US"/>
          </a:p>
        </p:txBody>
      </p:sp>
      <p:sp>
        <p:nvSpPr>
          <p:cNvPr id="43" name="AutoShape 43"/>
          <p:cNvSpPr/>
          <p:nvPr/>
        </p:nvSpPr>
        <p:spPr>
          <a:xfrm>
            <a:off x="9498666" y="2538412"/>
            <a:ext cx="7756992" cy="0"/>
          </a:xfrm>
          <a:prstGeom prst="line">
            <a:avLst/>
          </a:prstGeom>
          <a:ln w="9525" cap="flat">
            <a:solidFill>
              <a:srgbClr val="1B322A"/>
            </a:solidFill>
            <a:prstDash val="solid"/>
            <a:headEnd type="none" w="sm" len="sm"/>
            <a:tailEnd type="none" w="sm" len="sm"/>
          </a:ln>
        </p:spPr>
        <p:txBody>
          <a:bodyPr/>
          <a:lstStyle/>
          <a:p>
            <a:endParaRPr lang="en-US"/>
          </a:p>
        </p:txBody>
      </p:sp>
      <p:sp>
        <p:nvSpPr>
          <p:cNvPr id="44" name="TextBox 44"/>
          <p:cNvSpPr txBox="1"/>
          <p:nvPr/>
        </p:nvSpPr>
        <p:spPr>
          <a:xfrm>
            <a:off x="2263308" y="3104181"/>
            <a:ext cx="6522384" cy="344839"/>
          </a:xfrm>
          <a:prstGeom prst="rect">
            <a:avLst/>
          </a:prstGeom>
        </p:spPr>
        <p:txBody>
          <a:bodyPr lIns="0" tIns="0" rIns="0" bIns="0" rtlCol="0" anchor="t">
            <a:spAutoFit/>
          </a:bodyPr>
          <a:lstStyle/>
          <a:p>
            <a:pPr algn="l">
              <a:lnSpc>
                <a:spcPts val="2520"/>
              </a:lnSpc>
            </a:pPr>
            <a:r>
              <a:rPr lang="en-US" sz="2800" b="1">
                <a:solidFill>
                  <a:srgbClr val="1B322A"/>
                </a:solidFill>
                <a:latin typeface="Open Sauce Bold"/>
                <a:ea typeface="Open Sauce Bold"/>
                <a:cs typeface="Open Sauce Bold"/>
                <a:sym typeface="Open Sauce Bold"/>
              </a:rPr>
              <a:t>Introduction</a:t>
            </a:r>
          </a:p>
        </p:txBody>
      </p:sp>
      <p:sp>
        <p:nvSpPr>
          <p:cNvPr id="45" name="TextBox 45"/>
          <p:cNvSpPr txBox="1"/>
          <p:nvPr/>
        </p:nvSpPr>
        <p:spPr>
          <a:xfrm>
            <a:off x="10736916" y="3180413"/>
            <a:ext cx="6522384" cy="344775"/>
          </a:xfrm>
          <a:prstGeom prst="rect">
            <a:avLst/>
          </a:prstGeom>
        </p:spPr>
        <p:txBody>
          <a:bodyPr lIns="0" tIns="0" rIns="0" bIns="0" rtlCol="0" anchor="t">
            <a:spAutoFit/>
          </a:bodyPr>
          <a:lstStyle/>
          <a:p>
            <a:pPr algn="l">
              <a:lnSpc>
                <a:spcPts val="2520"/>
              </a:lnSpc>
            </a:pPr>
            <a:r>
              <a:rPr lang="en-US" sz="2800" b="1">
                <a:solidFill>
                  <a:srgbClr val="1B322A"/>
                </a:solidFill>
                <a:latin typeface="Open Sauce Bold"/>
                <a:ea typeface="Open Sauce Bold"/>
                <a:cs typeface="Open Sauce Bold"/>
                <a:sym typeface="Open Sauce Bold"/>
              </a:rPr>
              <a:t>Sales By Category</a:t>
            </a:r>
          </a:p>
        </p:txBody>
      </p:sp>
      <p:sp>
        <p:nvSpPr>
          <p:cNvPr id="46" name="TextBox 46"/>
          <p:cNvSpPr txBox="1"/>
          <p:nvPr/>
        </p:nvSpPr>
        <p:spPr>
          <a:xfrm>
            <a:off x="2263308" y="4447206"/>
            <a:ext cx="6522384" cy="344839"/>
          </a:xfrm>
          <a:prstGeom prst="rect">
            <a:avLst/>
          </a:prstGeom>
        </p:spPr>
        <p:txBody>
          <a:bodyPr lIns="0" tIns="0" rIns="0" bIns="0" rtlCol="0" anchor="t">
            <a:spAutoFit/>
          </a:bodyPr>
          <a:lstStyle/>
          <a:p>
            <a:pPr algn="l">
              <a:lnSpc>
                <a:spcPts val="2520"/>
              </a:lnSpc>
            </a:pPr>
            <a:r>
              <a:rPr lang="en-US" sz="2800" b="1">
                <a:solidFill>
                  <a:srgbClr val="1B322A"/>
                </a:solidFill>
                <a:latin typeface="Open Sauce Bold"/>
                <a:ea typeface="Open Sauce Bold"/>
                <a:cs typeface="Open Sauce Bold"/>
                <a:sym typeface="Open Sauce Bold"/>
              </a:rPr>
              <a:t>Executive Summary</a:t>
            </a:r>
          </a:p>
        </p:txBody>
      </p:sp>
      <p:sp>
        <p:nvSpPr>
          <p:cNvPr id="47" name="TextBox 47"/>
          <p:cNvSpPr txBox="1"/>
          <p:nvPr/>
        </p:nvSpPr>
        <p:spPr>
          <a:xfrm>
            <a:off x="10736916" y="4447206"/>
            <a:ext cx="6522384" cy="344839"/>
          </a:xfrm>
          <a:prstGeom prst="rect">
            <a:avLst/>
          </a:prstGeom>
        </p:spPr>
        <p:txBody>
          <a:bodyPr lIns="0" tIns="0" rIns="0" bIns="0" rtlCol="0" anchor="t">
            <a:spAutoFit/>
          </a:bodyPr>
          <a:lstStyle/>
          <a:p>
            <a:pPr algn="l">
              <a:lnSpc>
                <a:spcPts val="2520"/>
              </a:lnSpc>
            </a:pPr>
            <a:r>
              <a:rPr lang="en-US" sz="2800" b="1">
                <a:solidFill>
                  <a:srgbClr val="1B322A"/>
                </a:solidFill>
                <a:latin typeface="Open Sauce Bold"/>
                <a:ea typeface="Open Sauce Bold"/>
                <a:cs typeface="Open Sauce Bold"/>
                <a:sym typeface="Open Sauce Bold"/>
              </a:rPr>
              <a:t>Customer Segments</a:t>
            </a:r>
          </a:p>
        </p:txBody>
      </p:sp>
      <p:sp>
        <p:nvSpPr>
          <p:cNvPr id="48" name="TextBox 48"/>
          <p:cNvSpPr txBox="1"/>
          <p:nvPr/>
        </p:nvSpPr>
        <p:spPr>
          <a:xfrm>
            <a:off x="2263308" y="5790263"/>
            <a:ext cx="6522384" cy="344775"/>
          </a:xfrm>
          <a:prstGeom prst="rect">
            <a:avLst/>
          </a:prstGeom>
        </p:spPr>
        <p:txBody>
          <a:bodyPr lIns="0" tIns="0" rIns="0" bIns="0" rtlCol="0" anchor="t">
            <a:spAutoFit/>
          </a:bodyPr>
          <a:lstStyle/>
          <a:p>
            <a:pPr algn="l">
              <a:lnSpc>
                <a:spcPts val="2520"/>
              </a:lnSpc>
            </a:pPr>
            <a:r>
              <a:rPr lang="en-US" sz="2800" b="1">
                <a:solidFill>
                  <a:srgbClr val="1B322A"/>
                </a:solidFill>
                <a:latin typeface="Open Sauce Bold"/>
                <a:ea typeface="Open Sauce Bold"/>
                <a:cs typeface="Open Sauce Bold"/>
                <a:sym typeface="Open Sauce Bold"/>
              </a:rPr>
              <a:t> Problem Statement</a:t>
            </a:r>
          </a:p>
        </p:txBody>
      </p:sp>
      <p:sp>
        <p:nvSpPr>
          <p:cNvPr id="49" name="TextBox 49"/>
          <p:cNvSpPr txBox="1"/>
          <p:nvPr/>
        </p:nvSpPr>
        <p:spPr>
          <a:xfrm>
            <a:off x="10736916" y="5790263"/>
            <a:ext cx="6522384" cy="344775"/>
          </a:xfrm>
          <a:prstGeom prst="rect">
            <a:avLst/>
          </a:prstGeom>
        </p:spPr>
        <p:txBody>
          <a:bodyPr lIns="0" tIns="0" rIns="0" bIns="0" rtlCol="0" anchor="t">
            <a:spAutoFit/>
          </a:bodyPr>
          <a:lstStyle/>
          <a:p>
            <a:pPr algn="l">
              <a:lnSpc>
                <a:spcPts val="2520"/>
              </a:lnSpc>
            </a:pPr>
            <a:r>
              <a:rPr lang="en-US" sz="2800" b="1">
                <a:solidFill>
                  <a:srgbClr val="1B322A"/>
                </a:solidFill>
                <a:latin typeface="Open Sauce Bold"/>
                <a:ea typeface="Open Sauce Bold"/>
                <a:cs typeface="Open Sauce Bold"/>
                <a:sym typeface="Open Sauce Bold"/>
              </a:rPr>
              <a:t>Geography</a:t>
            </a:r>
          </a:p>
        </p:txBody>
      </p:sp>
      <p:sp>
        <p:nvSpPr>
          <p:cNvPr id="50" name="TextBox 50"/>
          <p:cNvSpPr txBox="1"/>
          <p:nvPr/>
        </p:nvSpPr>
        <p:spPr>
          <a:xfrm>
            <a:off x="2263308" y="7133256"/>
            <a:ext cx="6522384" cy="344839"/>
          </a:xfrm>
          <a:prstGeom prst="rect">
            <a:avLst/>
          </a:prstGeom>
        </p:spPr>
        <p:txBody>
          <a:bodyPr lIns="0" tIns="0" rIns="0" bIns="0" rtlCol="0" anchor="t">
            <a:spAutoFit/>
          </a:bodyPr>
          <a:lstStyle/>
          <a:p>
            <a:pPr algn="l">
              <a:lnSpc>
                <a:spcPts val="2520"/>
              </a:lnSpc>
            </a:pPr>
            <a:r>
              <a:rPr lang="en-US" sz="2800" b="1">
                <a:solidFill>
                  <a:srgbClr val="1B322A"/>
                </a:solidFill>
                <a:latin typeface="Open Sauce Bold"/>
                <a:ea typeface="Open Sauce Bold"/>
                <a:cs typeface="Open Sauce Bold"/>
                <a:sym typeface="Open Sauce Bold"/>
              </a:rPr>
              <a:t>Sales by Region</a:t>
            </a:r>
          </a:p>
        </p:txBody>
      </p:sp>
      <p:sp>
        <p:nvSpPr>
          <p:cNvPr id="51" name="TextBox 51"/>
          <p:cNvSpPr txBox="1"/>
          <p:nvPr/>
        </p:nvSpPr>
        <p:spPr>
          <a:xfrm>
            <a:off x="10736916" y="7133256"/>
            <a:ext cx="6522384" cy="344839"/>
          </a:xfrm>
          <a:prstGeom prst="rect">
            <a:avLst/>
          </a:prstGeom>
        </p:spPr>
        <p:txBody>
          <a:bodyPr lIns="0" tIns="0" rIns="0" bIns="0" rtlCol="0" anchor="t">
            <a:spAutoFit/>
          </a:bodyPr>
          <a:lstStyle/>
          <a:p>
            <a:pPr algn="l">
              <a:lnSpc>
                <a:spcPts val="2520"/>
              </a:lnSpc>
            </a:pPr>
            <a:r>
              <a:rPr lang="en-US" sz="2800" b="1">
                <a:solidFill>
                  <a:srgbClr val="1B322A"/>
                </a:solidFill>
                <a:latin typeface="Open Sauce Bold"/>
                <a:ea typeface="Open Sauce Bold"/>
                <a:cs typeface="Open Sauce Bold"/>
                <a:sym typeface="Open Sauce Bold"/>
              </a:rPr>
              <a:t>Forecast</a:t>
            </a:r>
          </a:p>
        </p:txBody>
      </p:sp>
      <p:sp>
        <p:nvSpPr>
          <p:cNvPr id="52" name="TextBox 52"/>
          <p:cNvSpPr txBox="1"/>
          <p:nvPr/>
        </p:nvSpPr>
        <p:spPr>
          <a:xfrm>
            <a:off x="2263308" y="8476313"/>
            <a:ext cx="6522384" cy="344775"/>
          </a:xfrm>
          <a:prstGeom prst="rect">
            <a:avLst/>
          </a:prstGeom>
        </p:spPr>
        <p:txBody>
          <a:bodyPr lIns="0" tIns="0" rIns="0" bIns="0" rtlCol="0" anchor="t">
            <a:spAutoFit/>
          </a:bodyPr>
          <a:lstStyle/>
          <a:p>
            <a:pPr algn="l">
              <a:lnSpc>
                <a:spcPts val="2520"/>
              </a:lnSpc>
            </a:pPr>
            <a:r>
              <a:rPr lang="en-US" sz="2800" b="1">
                <a:solidFill>
                  <a:srgbClr val="1B322A"/>
                </a:solidFill>
                <a:latin typeface="Open Sauce Bold"/>
                <a:ea typeface="Open Sauce Bold"/>
                <a:cs typeface="Open Sauce Bold"/>
                <a:sym typeface="Open Sauce Bold"/>
              </a:rPr>
              <a:t>Top Product Performance</a:t>
            </a:r>
          </a:p>
        </p:txBody>
      </p:sp>
      <p:sp>
        <p:nvSpPr>
          <p:cNvPr id="53" name="TextBox 53"/>
          <p:cNvSpPr txBox="1"/>
          <p:nvPr/>
        </p:nvSpPr>
        <p:spPr>
          <a:xfrm>
            <a:off x="10736916" y="8476281"/>
            <a:ext cx="6522384" cy="344839"/>
          </a:xfrm>
          <a:prstGeom prst="rect">
            <a:avLst/>
          </a:prstGeom>
        </p:spPr>
        <p:txBody>
          <a:bodyPr lIns="0" tIns="0" rIns="0" bIns="0" rtlCol="0" anchor="t">
            <a:spAutoFit/>
          </a:bodyPr>
          <a:lstStyle/>
          <a:p>
            <a:pPr algn="l">
              <a:lnSpc>
                <a:spcPts val="2520"/>
              </a:lnSpc>
            </a:pPr>
            <a:r>
              <a:rPr lang="en-US" sz="2800" b="1">
                <a:solidFill>
                  <a:srgbClr val="1B322A"/>
                </a:solidFill>
                <a:latin typeface="Open Sauce Bold"/>
                <a:ea typeface="Open Sauce Bold"/>
                <a:cs typeface="Open Sauce Bold"/>
                <a:sym typeface="Open Sauce Bold"/>
              </a:rPr>
              <a:t>Conclusion &amp; Next Steps</a:t>
            </a:r>
          </a:p>
        </p:txBody>
      </p:sp>
      <p:grpSp>
        <p:nvGrpSpPr>
          <p:cNvPr id="54" name="Group 54"/>
          <p:cNvGrpSpPr/>
          <p:nvPr/>
        </p:nvGrpSpPr>
        <p:grpSpPr>
          <a:xfrm rot="5400000">
            <a:off x="1006384" y="1051016"/>
            <a:ext cx="1093470" cy="1048839"/>
            <a:chOff x="0" y="0"/>
            <a:chExt cx="622300" cy="596900"/>
          </a:xfrm>
        </p:grpSpPr>
        <p:sp>
          <p:nvSpPr>
            <p:cNvPr id="55" name="Freeform 55"/>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FFFFFF">
                    <a:alpha val="100000"/>
                  </a:srgbClr>
                </a:gs>
                <a:gs pos="100000">
                  <a:srgbClr val="FFFFFF">
                    <a:alpha val="0"/>
                  </a:srgbClr>
                </a:gs>
              </a:gsLst>
              <a:lin ang="0"/>
            </a:gradFill>
          </p:spPr>
          <p:txBody>
            <a:bodyPr/>
            <a:lstStyle/>
            <a:p>
              <a:endParaRPr lang="en-US"/>
            </a:p>
          </p:txBody>
        </p:sp>
        <p:sp>
          <p:nvSpPr>
            <p:cNvPr id="56" name="TextBox 56"/>
            <p:cNvSpPr txBox="1"/>
            <p:nvPr/>
          </p:nvSpPr>
          <p:spPr>
            <a:xfrm>
              <a:off x="0" y="155575"/>
              <a:ext cx="622300" cy="314325"/>
            </a:xfrm>
            <a:prstGeom prst="rect">
              <a:avLst/>
            </a:prstGeom>
          </p:spPr>
          <p:txBody>
            <a:bodyPr lIns="50800" tIns="50800" rIns="50800" bIns="50800" rtlCol="0" anchor="ctr"/>
            <a:lstStyle/>
            <a:p>
              <a:pPr algn="ctr">
                <a:lnSpc>
                  <a:spcPts val="1890"/>
                </a:lnSpc>
              </a:pPr>
              <a:endParaRPr/>
            </a:p>
          </p:txBody>
        </p:sp>
      </p:grpSp>
      <p:sp>
        <p:nvSpPr>
          <p:cNvPr id="57" name="TextBox 57"/>
          <p:cNvSpPr txBox="1"/>
          <p:nvPr/>
        </p:nvSpPr>
        <p:spPr>
          <a:xfrm>
            <a:off x="2409349" y="1171575"/>
            <a:ext cx="6734651" cy="954471"/>
          </a:xfrm>
          <a:prstGeom prst="rect">
            <a:avLst/>
          </a:prstGeom>
        </p:spPr>
        <p:txBody>
          <a:bodyPr lIns="0" tIns="0" rIns="0" bIns="0" rtlCol="0" anchor="t">
            <a:spAutoFit/>
          </a:bodyPr>
          <a:lstStyle/>
          <a:p>
            <a:pPr marL="0" lvl="0" indent="0" algn="l">
              <a:lnSpc>
                <a:spcPts val="7200"/>
              </a:lnSpc>
              <a:spcBef>
                <a:spcPct val="0"/>
              </a:spcBef>
            </a:pPr>
            <a:r>
              <a:rPr lang="en-US" sz="7200" b="1">
                <a:solidFill>
                  <a:srgbClr val="1B322A"/>
                </a:solidFill>
                <a:latin typeface="Open Sauce Bold"/>
                <a:ea typeface="Open Sauce Bold"/>
                <a:cs typeface="Open Sauce Bold"/>
                <a:sym typeface="Open Sauce Bold"/>
              </a:rPr>
              <a:t>Age</a:t>
            </a:r>
            <a:r>
              <a:rPr lang="en-US" sz="7200" b="1" u="none" strike="noStrike">
                <a:solidFill>
                  <a:srgbClr val="1B322A"/>
                </a:solidFill>
                <a:latin typeface="Open Sauce Bold"/>
                <a:ea typeface="Open Sauce Bold"/>
                <a:cs typeface="Open Sauce Bold"/>
                <a:sym typeface="Open Sauce Bold"/>
              </a:rPr>
              <a:t>nda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9130" y="4857642"/>
            <a:ext cx="18518447" cy="5983660"/>
            <a:chOff x="0" y="0"/>
            <a:chExt cx="2868992" cy="927026"/>
          </a:xfrm>
        </p:grpSpPr>
        <p:sp>
          <p:nvSpPr>
            <p:cNvPr id="3" name="Freeform 3"/>
            <p:cNvSpPr/>
            <p:nvPr/>
          </p:nvSpPr>
          <p:spPr>
            <a:xfrm>
              <a:off x="0" y="0"/>
              <a:ext cx="2868992" cy="927025"/>
            </a:xfrm>
            <a:custGeom>
              <a:avLst/>
              <a:gdLst/>
              <a:ahLst/>
              <a:cxnLst/>
              <a:rect l="l" t="t" r="r" b="b"/>
              <a:pathLst>
                <a:path w="2868992" h="927025">
                  <a:moveTo>
                    <a:pt x="22994" y="0"/>
                  </a:moveTo>
                  <a:lnTo>
                    <a:pt x="2845999" y="0"/>
                  </a:lnTo>
                  <a:cubicBezTo>
                    <a:pt x="2852097" y="0"/>
                    <a:pt x="2857945" y="2423"/>
                    <a:pt x="2862257" y="6735"/>
                  </a:cubicBezTo>
                  <a:cubicBezTo>
                    <a:pt x="2866570" y="11047"/>
                    <a:pt x="2868992" y="16895"/>
                    <a:pt x="2868992" y="22994"/>
                  </a:cubicBezTo>
                  <a:lnTo>
                    <a:pt x="2868992" y="904032"/>
                  </a:lnTo>
                  <a:cubicBezTo>
                    <a:pt x="2868992" y="910130"/>
                    <a:pt x="2866570" y="915979"/>
                    <a:pt x="2862257" y="920291"/>
                  </a:cubicBezTo>
                  <a:cubicBezTo>
                    <a:pt x="2857945" y="924603"/>
                    <a:pt x="2852097" y="927025"/>
                    <a:pt x="2845999" y="927025"/>
                  </a:cubicBezTo>
                  <a:lnTo>
                    <a:pt x="22994" y="927025"/>
                  </a:lnTo>
                  <a:cubicBezTo>
                    <a:pt x="16895" y="927025"/>
                    <a:pt x="11047" y="924603"/>
                    <a:pt x="6735" y="920291"/>
                  </a:cubicBezTo>
                  <a:cubicBezTo>
                    <a:pt x="2423" y="915979"/>
                    <a:pt x="0" y="910130"/>
                    <a:pt x="0" y="904032"/>
                  </a:cubicBezTo>
                  <a:lnTo>
                    <a:pt x="0" y="22994"/>
                  </a:lnTo>
                  <a:cubicBezTo>
                    <a:pt x="0" y="16895"/>
                    <a:pt x="2423" y="11047"/>
                    <a:pt x="6735" y="6735"/>
                  </a:cubicBezTo>
                  <a:cubicBezTo>
                    <a:pt x="11047" y="2423"/>
                    <a:pt x="16895" y="0"/>
                    <a:pt x="22994" y="0"/>
                  </a:cubicBezTo>
                  <a:close/>
                </a:path>
              </a:pathLst>
            </a:custGeom>
            <a:blipFill>
              <a:blip r:embed="rId2"/>
              <a:stretch>
                <a:fillRect l="-4537" r="-6953" b="-38017"/>
              </a:stretch>
            </a:blipFill>
          </p:spPr>
          <p:txBody>
            <a:bodyPr/>
            <a:lstStyle/>
            <a:p>
              <a:endParaRPr lang="en-US"/>
            </a:p>
          </p:txBody>
        </p:sp>
      </p:grpSp>
      <p:grpSp>
        <p:nvGrpSpPr>
          <p:cNvPr id="4" name="Group 4"/>
          <p:cNvGrpSpPr/>
          <p:nvPr/>
        </p:nvGrpSpPr>
        <p:grpSpPr>
          <a:xfrm rot="5400000">
            <a:off x="1006384" y="1051016"/>
            <a:ext cx="1093470" cy="1048839"/>
            <a:chOff x="0" y="0"/>
            <a:chExt cx="622300" cy="596900"/>
          </a:xfrm>
        </p:grpSpPr>
        <p:sp>
          <p:nvSpPr>
            <p:cNvPr id="5" name="Freeform 5"/>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C9F1B7">
                    <a:alpha val="100000"/>
                  </a:srgbClr>
                </a:gs>
                <a:gs pos="100000">
                  <a:srgbClr val="C9F1B8">
                    <a:alpha val="0"/>
                  </a:srgbClr>
                </a:gs>
              </a:gsLst>
              <a:lin ang="0"/>
            </a:gradFill>
          </p:spPr>
          <p:txBody>
            <a:bodyPr/>
            <a:lstStyle/>
            <a:p>
              <a:endParaRPr lang="en-US"/>
            </a:p>
          </p:txBody>
        </p:sp>
        <p:sp>
          <p:nvSpPr>
            <p:cNvPr id="6" name="TextBox 6"/>
            <p:cNvSpPr txBox="1"/>
            <p:nvPr/>
          </p:nvSpPr>
          <p:spPr>
            <a:xfrm>
              <a:off x="0" y="155575"/>
              <a:ext cx="622300" cy="314325"/>
            </a:xfrm>
            <a:prstGeom prst="rect">
              <a:avLst/>
            </a:prstGeom>
          </p:spPr>
          <p:txBody>
            <a:bodyPr lIns="50800" tIns="50800" rIns="50800" bIns="50800" rtlCol="0" anchor="ctr"/>
            <a:lstStyle/>
            <a:p>
              <a:pPr algn="ctr">
                <a:lnSpc>
                  <a:spcPts val="1890"/>
                </a:lnSpc>
              </a:pPr>
              <a:endParaRPr/>
            </a:p>
          </p:txBody>
        </p:sp>
      </p:grpSp>
      <p:sp>
        <p:nvSpPr>
          <p:cNvPr id="7" name="TextBox 7"/>
          <p:cNvSpPr txBox="1"/>
          <p:nvPr/>
        </p:nvSpPr>
        <p:spPr>
          <a:xfrm>
            <a:off x="2409349" y="1171575"/>
            <a:ext cx="6423483" cy="954471"/>
          </a:xfrm>
          <a:prstGeom prst="rect">
            <a:avLst/>
          </a:prstGeom>
        </p:spPr>
        <p:txBody>
          <a:bodyPr lIns="0" tIns="0" rIns="0" bIns="0" rtlCol="0" anchor="t">
            <a:spAutoFit/>
          </a:bodyPr>
          <a:lstStyle/>
          <a:p>
            <a:pPr marL="0" lvl="0" indent="0" algn="l">
              <a:lnSpc>
                <a:spcPts val="7200"/>
              </a:lnSpc>
              <a:spcBef>
                <a:spcPct val="0"/>
              </a:spcBef>
            </a:pPr>
            <a:r>
              <a:rPr lang="en-US" sz="7200" b="1" u="none" strike="noStrike">
                <a:solidFill>
                  <a:srgbClr val="1B322A"/>
                </a:solidFill>
                <a:latin typeface="Open Sauce Bold"/>
                <a:ea typeface="Open Sauce Bold"/>
                <a:cs typeface="Open Sauce Bold"/>
                <a:sym typeface="Open Sauce Bold"/>
              </a:rPr>
              <a:t>Introduction</a:t>
            </a:r>
          </a:p>
        </p:txBody>
      </p:sp>
      <p:sp>
        <p:nvSpPr>
          <p:cNvPr id="8" name="TextBox 8"/>
          <p:cNvSpPr txBox="1"/>
          <p:nvPr/>
        </p:nvSpPr>
        <p:spPr>
          <a:xfrm>
            <a:off x="9144000" y="923925"/>
            <a:ext cx="8965471" cy="3105126"/>
          </a:xfrm>
          <a:prstGeom prst="rect">
            <a:avLst/>
          </a:prstGeom>
        </p:spPr>
        <p:txBody>
          <a:bodyPr lIns="0" tIns="0" rIns="0" bIns="0" rtlCol="0" anchor="t">
            <a:spAutoFit/>
          </a:bodyPr>
          <a:lstStyle/>
          <a:p>
            <a:pPr algn="l">
              <a:lnSpc>
                <a:spcPts val="3569"/>
              </a:lnSpc>
            </a:pPr>
            <a:r>
              <a:rPr lang="en-US" sz="2100">
                <a:solidFill>
                  <a:srgbClr val="737373"/>
                </a:solidFill>
                <a:latin typeface="TT Interphases"/>
                <a:ea typeface="TT Interphases"/>
                <a:cs typeface="TT Interphases"/>
                <a:sym typeface="TT Interphases"/>
              </a:rPr>
              <a:t>Hello everyone, and a special welcome to our instructor, Eng. Hagar. Have you ever wondered how retail businesses generate millions in sales, yet still end up losing money? We asked ourselves this exact question. My name is Mohamed Khalid, and with my talented team of Ahmed, Mariem, and Youssef, we are excited to present our final project: the Sales Data Analysis and Profit Prediction App. In this project, we didn't just look at past sales; we built a complete pipeline to forecast profitability.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1006384" y="1051016"/>
            <a:ext cx="1093470" cy="1048839"/>
            <a:chOff x="0" y="0"/>
            <a:chExt cx="622300" cy="596900"/>
          </a:xfrm>
        </p:grpSpPr>
        <p:sp>
          <p:nvSpPr>
            <p:cNvPr id="3" name="Freeform 3"/>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C9F1B7">
                    <a:alpha val="100000"/>
                  </a:srgbClr>
                </a:gs>
                <a:gs pos="100000">
                  <a:srgbClr val="C9F1B8">
                    <a:alpha val="0"/>
                  </a:srgbClr>
                </a:gs>
              </a:gsLst>
              <a:lin ang="0"/>
            </a:gradFill>
          </p:spPr>
          <p:txBody>
            <a:bodyPr/>
            <a:lstStyle/>
            <a:p>
              <a:endParaRPr lang="en-US"/>
            </a:p>
          </p:txBody>
        </p:sp>
        <p:sp>
          <p:nvSpPr>
            <p:cNvPr id="4" name="TextBox 4"/>
            <p:cNvSpPr txBox="1"/>
            <p:nvPr/>
          </p:nvSpPr>
          <p:spPr>
            <a:xfrm>
              <a:off x="0" y="155575"/>
              <a:ext cx="622300" cy="314325"/>
            </a:xfrm>
            <a:prstGeom prst="rect">
              <a:avLst/>
            </a:prstGeom>
          </p:spPr>
          <p:txBody>
            <a:bodyPr lIns="50800" tIns="50800" rIns="50800" bIns="50800" rtlCol="0" anchor="ctr"/>
            <a:lstStyle/>
            <a:p>
              <a:pPr algn="ctr">
                <a:lnSpc>
                  <a:spcPts val="1890"/>
                </a:lnSpc>
              </a:pPr>
              <a:endParaRPr/>
            </a:p>
          </p:txBody>
        </p:sp>
      </p:grpSp>
      <p:sp>
        <p:nvSpPr>
          <p:cNvPr id="5" name="TextBox 5"/>
          <p:cNvSpPr txBox="1"/>
          <p:nvPr/>
        </p:nvSpPr>
        <p:spPr>
          <a:xfrm>
            <a:off x="2409349" y="1171575"/>
            <a:ext cx="9281001" cy="954471"/>
          </a:xfrm>
          <a:prstGeom prst="rect">
            <a:avLst/>
          </a:prstGeom>
        </p:spPr>
        <p:txBody>
          <a:bodyPr lIns="0" tIns="0" rIns="0" bIns="0" rtlCol="0" anchor="t">
            <a:spAutoFit/>
          </a:bodyPr>
          <a:lstStyle/>
          <a:p>
            <a:pPr algn="l">
              <a:lnSpc>
                <a:spcPts val="7200"/>
              </a:lnSpc>
            </a:pPr>
            <a:r>
              <a:rPr lang="en-US" sz="7200" b="1">
                <a:solidFill>
                  <a:srgbClr val="1B322A"/>
                </a:solidFill>
                <a:latin typeface="Open Sauce Bold"/>
                <a:ea typeface="Open Sauce Bold"/>
                <a:cs typeface="Open Sauce Bold"/>
                <a:sym typeface="Open Sauce Bold"/>
              </a:rPr>
              <a:t>Executive Summary</a:t>
            </a:r>
          </a:p>
        </p:txBody>
      </p:sp>
      <p:sp>
        <p:nvSpPr>
          <p:cNvPr id="6" name="TextBox 6"/>
          <p:cNvSpPr txBox="1"/>
          <p:nvPr/>
        </p:nvSpPr>
        <p:spPr>
          <a:xfrm>
            <a:off x="3801248" y="3641281"/>
            <a:ext cx="10685505" cy="1253572"/>
          </a:xfrm>
          <a:prstGeom prst="rect">
            <a:avLst/>
          </a:prstGeom>
        </p:spPr>
        <p:txBody>
          <a:bodyPr lIns="0" tIns="0" rIns="0" bIns="0" rtlCol="0" anchor="t">
            <a:spAutoFit/>
          </a:bodyPr>
          <a:lstStyle/>
          <a:p>
            <a:pPr algn="l">
              <a:lnSpc>
                <a:spcPts val="3359"/>
              </a:lnSpc>
            </a:pPr>
            <a:r>
              <a:rPr lang="en-US" sz="2400">
                <a:solidFill>
                  <a:srgbClr val="737373"/>
                </a:solidFill>
                <a:latin typeface="TT Interphases"/>
                <a:ea typeface="TT Interphases"/>
                <a:cs typeface="TT Interphases"/>
                <a:sym typeface="TT Interphases"/>
              </a:rPr>
              <a:t>The Business Question: How can we accurately predict transaction profitability and identify the key drivers of profit and loss across different retail categories and regions?</a:t>
            </a:r>
          </a:p>
        </p:txBody>
      </p:sp>
      <p:sp>
        <p:nvSpPr>
          <p:cNvPr id="7" name="TextBox 7"/>
          <p:cNvSpPr txBox="1"/>
          <p:nvPr/>
        </p:nvSpPr>
        <p:spPr>
          <a:xfrm>
            <a:off x="3801248" y="5580580"/>
            <a:ext cx="10685505" cy="2930082"/>
          </a:xfrm>
          <a:prstGeom prst="rect">
            <a:avLst/>
          </a:prstGeom>
        </p:spPr>
        <p:txBody>
          <a:bodyPr lIns="0" tIns="0" rIns="0" bIns="0" rtlCol="0" anchor="t">
            <a:spAutoFit/>
          </a:bodyPr>
          <a:lstStyle/>
          <a:p>
            <a:pPr algn="l">
              <a:lnSpc>
                <a:spcPts val="3359"/>
              </a:lnSpc>
            </a:pPr>
            <a:r>
              <a:rPr lang="en-US" sz="2400">
                <a:solidFill>
                  <a:srgbClr val="737373"/>
                </a:solidFill>
                <a:latin typeface="TT Interphases"/>
                <a:ea typeface="TT Interphases"/>
                <a:cs typeface="TT Interphases"/>
                <a:sym typeface="TT Interphases"/>
              </a:rPr>
              <a:t>Key Finding &amp; Recommended Action: The analysis revealed that while Furniture generates high revenue, it yields extremely low profit margins due to high discount rates, whereas Technology (especially Copiers and Phones) drives the majority of net profit. A Random Forest model successfully predicted profit with 92.79% accuracy based on sales and cost data. Action: We recommend revising the discount strategies in underperforming states (like Texas and Ohio) and reallocating marketing efforts toward high-margin Technology products.</a:t>
            </a:r>
          </a:p>
        </p:txBody>
      </p:sp>
      <p:grpSp>
        <p:nvGrpSpPr>
          <p:cNvPr id="8" name="Group 8"/>
          <p:cNvGrpSpPr/>
          <p:nvPr/>
        </p:nvGrpSpPr>
        <p:grpSpPr>
          <a:xfrm>
            <a:off x="600619" y="3820392"/>
            <a:ext cx="952500" cy="952500"/>
            <a:chOff x="0" y="0"/>
            <a:chExt cx="713005" cy="713005"/>
          </a:xfrm>
        </p:grpSpPr>
        <p:sp>
          <p:nvSpPr>
            <p:cNvPr id="9" name="Freeform 9"/>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C9F1B7"/>
            </a:solidFill>
          </p:spPr>
          <p:txBody>
            <a:bodyPr/>
            <a:lstStyle/>
            <a:p>
              <a:endParaRPr lang="en-US"/>
            </a:p>
          </p:txBody>
        </p:sp>
        <p:sp>
          <p:nvSpPr>
            <p:cNvPr id="10" name="TextBox 10"/>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01</a:t>
              </a:r>
            </a:p>
          </p:txBody>
        </p:sp>
      </p:grpSp>
      <p:sp>
        <p:nvSpPr>
          <p:cNvPr id="11" name="AutoShape 11"/>
          <p:cNvSpPr/>
          <p:nvPr/>
        </p:nvSpPr>
        <p:spPr>
          <a:xfrm flipV="1">
            <a:off x="1028700" y="3274314"/>
            <a:ext cx="15606410" cy="0"/>
          </a:xfrm>
          <a:prstGeom prst="line">
            <a:avLst/>
          </a:prstGeom>
          <a:ln w="9525" cap="flat">
            <a:solidFill>
              <a:srgbClr val="1B322A"/>
            </a:solidFill>
            <a:prstDash val="solid"/>
            <a:headEnd type="none" w="sm" len="sm"/>
            <a:tailEnd type="none" w="sm" len="sm"/>
          </a:ln>
        </p:spPr>
        <p:txBody>
          <a:bodyPr/>
          <a:lstStyle/>
          <a:p>
            <a:endParaRPr lang="en-US"/>
          </a:p>
        </p:txBody>
      </p:sp>
      <p:sp>
        <p:nvSpPr>
          <p:cNvPr id="12" name="AutoShape 12"/>
          <p:cNvSpPr/>
          <p:nvPr/>
        </p:nvSpPr>
        <p:spPr>
          <a:xfrm>
            <a:off x="1028700" y="9258300"/>
            <a:ext cx="4933950" cy="0"/>
          </a:xfrm>
          <a:prstGeom prst="line">
            <a:avLst/>
          </a:prstGeom>
          <a:ln w="9525" cap="flat">
            <a:solidFill>
              <a:srgbClr val="1B322A"/>
            </a:solidFill>
            <a:prstDash val="solid"/>
            <a:headEnd type="none" w="sm" len="sm"/>
            <a:tailEnd type="none" w="sm" len="sm"/>
          </a:ln>
        </p:spPr>
        <p:txBody>
          <a:bodyPr/>
          <a:lstStyle/>
          <a:p>
            <a:endParaRPr lang="en-US"/>
          </a:p>
        </p:txBody>
      </p:sp>
      <p:sp>
        <p:nvSpPr>
          <p:cNvPr id="13" name="AutoShape 13"/>
          <p:cNvSpPr/>
          <p:nvPr/>
        </p:nvSpPr>
        <p:spPr>
          <a:xfrm>
            <a:off x="6677025" y="9258300"/>
            <a:ext cx="4933950" cy="0"/>
          </a:xfrm>
          <a:prstGeom prst="line">
            <a:avLst/>
          </a:prstGeom>
          <a:ln w="9525" cap="flat">
            <a:solidFill>
              <a:srgbClr val="1B322A"/>
            </a:solidFill>
            <a:prstDash val="solid"/>
            <a:headEnd type="none" w="sm" len="sm"/>
            <a:tailEnd type="none" w="sm" len="sm"/>
          </a:ln>
        </p:spPr>
        <p:txBody>
          <a:bodyPr/>
          <a:lstStyle/>
          <a:p>
            <a:endParaRPr lang="en-US"/>
          </a:p>
        </p:txBody>
      </p:sp>
      <p:sp>
        <p:nvSpPr>
          <p:cNvPr id="14" name="AutoShape 14"/>
          <p:cNvSpPr/>
          <p:nvPr/>
        </p:nvSpPr>
        <p:spPr>
          <a:xfrm>
            <a:off x="12325350" y="9258300"/>
            <a:ext cx="4933950" cy="0"/>
          </a:xfrm>
          <a:prstGeom prst="line">
            <a:avLst/>
          </a:prstGeom>
          <a:ln w="9525" cap="flat">
            <a:solidFill>
              <a:srgbClr val="1B322A"/>
            </a:solidFill>
            <a:prstDash val="solid"/>
            <a:headEnd type="none" w="sm" len="sm"/>
            <a:tailEnd type="none" w="sm" len="sm"/>
          </a:ln>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2450" y="552450"/>
            <a:ext cx="8591550" cy="9182100"/>
            <a:chOff x="0" y="0"/>
            <a:chExt cx="6431302" cy="6873365"/>
          </a:xfrm>
        </p:grpSpPr>
        <p:sp>
          <p:nvSpPr>
            <p:cNvPr id="3" name="Freeform 3"/>
            <p:cNvSpPr/>
            <p:nvPr/>
          </p:nvSpPr>
          <p:spPr>
            <a:xfrm>
              <a:off x="0" y="0"/>
              <a:ext cx="6431302" cy="6873365"/>
            </a:xfrm>
            <a:custGeom>
              <a:avLst/>
              <a:gdLst/>
              <a:ahLst/>
              <a:cxnLst/>
              <a:rect l="l" t="t" r="r" b="b"/>
              <a:pathLst>
                <a:path w="6431302" h="6873365">
                  <a:moveTo>
                    <a:pt x="18022" y="0"/>
                  </a:moveTo>
                  <a:lnTo>
                    <a:pt x="6413280" y="0"/>
                  </a:lnTo>
                  <a:cubicBezTo>
                    <a:pt x="6418060" y="0"/>
                    <a:pt x="6422644" y="1899"/>
                    <a:pt x="6426024" y="5279"/>
                  </a:cubicBezTo>
                  <a:cubicBezTo>
                    <a:pt x="6429404" y="8658"/>
                    <a:pt x="6431302" y="13242"/>
                    <a:pt x="6431302" y="18022"/>
                  </a:cubicBezTo>
                  <a:lnTo>
                    <a:pt x="6431302" y="6855343"/>
                  </a:lnTo>
                  <a:cubicBezTo>
                    <a:pt x="6431302" y="6865296"/>
                    <a:pt x="6423234" y="6873365"/>
                    <a:pt x="6413280" y="6873365"/>
                  </a:cubicBezTo>
                  <a:lnTo>
                    <a:pt x="18022" y="6873365"/>
                  </a:lnTo>
                  <a:cubicBezTo>
                    <a:pt x="8069" y="6873365"/>
                    <a:pt x="0" y="6865296"/>
                    <a:pt x="0" y="6855343"/>
                  </a:cubicBezTo>
                  <a:lnTo>
                    <a:pt x="0" y="18022"/>
                  </a:lnTo>
                  <a:cubicBezTo>
                    <a:pt x="0" y="8069"/>
                    <a:pt x="8069" y="0"/>
                    <a:pt x="18022" y="0"/>
                  </a:cubicBezTo>
                  <a:close/>
                </a:path>
              </a:pathLst>
            </a:custGeom>
            <a:solidFill>
              <a:srgbClr val="1B322A"/>
            </a:solidFill>
          </p:spPr>
          <p:txBody>
            <a:bodyPr/>
            <a:lstStyle/>
            <a:p>
              <a:endParaRPr lang="en-US"/>
            </a:p>
          </p:txBody>
        </p:sp>
        <p:sp>
          <p:nvSpPr>
            <p:cNvPr id="4" name="TextBox 4"/>
            <p:cNvSpPr txBox="1"/>
            <p:nvPr/>
          </p:nvSpPr>
          <p:spPr>
            <a:xfrm>
              <a:off x="0" y="19050"/>
              <a:ext cx="6431302" cy="6854315"/>
            </a:xfrm>
            <a:prstGeom prst="rect">
              <a:avLst/>
            </a:prstGeom>
          </p:spPr>
          <p:txBody>
            <a:bodyPr lIns="0" tIns="0" rIns="0" bIns="0" rtlCol="0" anchor="ctr"/>
            <a:lstStyle/>
            <a:p>
              <a:pPr algn="ctr">
                <a:lnSpc>
                  <a:spcPts val="2519"/>
                </a:lnSpc>
              </a:pPr>
              <a:endParaRPr/>
            </a:p>
          </p:txBody>
        </p:sp>
      </p:grpSp>
      <p:grpSp>
        <p:nvGrpSpPr>
          <p:cNvPr id="5" name="Group 5"/>
          <p:cNvGrpSpPr/>
          <p:nvPr/>
        </p:nvGrpSpPr>
        <p:grpSpPr>
          <a:xfrm rot="5400000">
            <a:off x="1006384" y="1051016"/>
            <a:ext cx="1093470" cy="1048839"/>
            <a:chOff x="0" y="0"/>
            <a:chExt cx="622300" cy="596900"/>
          </a:xfrm>
        </p:grpSpPr>
        <p:sp>
          <p:nvSpPr>
            <p:cNvPr id="6" name="Freeform 6"/>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C9F1B7">
                    <a:alpha val="100000"/>
                  </a:srgbClr>
                </a:gs>
                <a:gs pos="100000">
                  <a:srgbClr val="C9F1B8">
                    <a:alpha val="0"/>
                  </a:srgbClr>
                </a:gs>
              </a:gsLst>
              <a:lin ang="0"/>
            </a:gradFill>
          </p:spPr>
          <p:txBody>
            <a:bodyPr/>
            <a:lstStyle/>
            <a:p>
              <a:endParaRPr lang="en-US"/>
            </a:p>
          </p:txBody>
        </p:sp>
        <p:sp>
          <p:nvSpPr>
            <p:cNvPr id="7" name="TextBox 7"/>
            <p:cNvSpPr txBox="1"/>
            <p:nvPr/>
          </p:nvSpPr>
          <p:spPr>
            <a:xfrm>
              <a:off x="0" y="155575"/>
              <a:ext cx="622300" cy="314325"/>
            </a:xfrm>
            <a:prstGeom prst="rect">
              <a:avLst/>
            </a:prstGeom>
          </p:spPr>
          <p:txBody>
            <a:bodyPr lIns="50800" tIns="50800" rIns="50800" bIns="50800" rtlCol="0" anchor="ctr"/>
            <a:lstStyle/>
            <a:p>
              <a:pPr algn="ctr">
                <a:lnSpc>
                  <a:spcPts val="1890"/>
                </a:lnSpc>
              </a:pPr>
              <a:endParaRPr/>
            </a:p>
          </p:txBody>
        </p:sp>
      </p:grpSp>
      <p:sp>
        <p:nvSpPr>
          <p:cNvPr id="8" name="TextBox 8"/>
          <p:cNvSpPr txBox="1"/>
          <p:nvPr/>
        </p:nvSpPr>
        <p:spPr>
          <a:xfrm>
            <a:off x="2409349" y="1171575"/>
            <a:ext cx="6258401" cy="2783404"/>
          </a:xfrm>
          <a:prstGeom prst="rect">
            <a:avLst/>
          </a:prstGeom>
        </p:spPr>
        <p:txBody>
          <a:bodyPr lIns="0" tIns="0" rIns="0" bIns="0" rtlCol="0" anchor="t">
            <a:spAutoFit/>
          </a:bodyPr>
          <a:lstStyle/>
          <a:p>
            <a:pPr algn="l">
              <a:lnSpc>
                <a:spcPts val="7200"/>
              </a:lnSpc>
            </a:pPr>
            <a:r>
              <a:rPr lang="en-US" sz="7200" b="1">
                <a:solidFill>
                  <a:srgbClr val="FFFFFF"/>
                </a:solidFill>
                <a:latin typeface="Open Sauce Bold"/>
                <a:ea typeface="Open Sauce Bold"/>
                <a:cs typeface="Open Sauce Bold"/>
                <a:sym typeface="Open Sauce Bold"/>
              </a:rPr>
              <a:t>Quarterly </a:t>
            </a:r>
            <a:r>
              <a:rPr lang="en-US" sz="7200" b="1">
                <a:solidFill>
                  <a:srgbClr val="C9F1B7"/>
                </a:solidFill>
                <a:latin typeface="Open Sauce Bold"/>
                <a:ea typeface="Open Sauce Bold"/>
                <a:cs typeface="Open Sauce Bold"/>
                <a:sym typeface="Open Sauce Bold"/>
              </a:rPr>
              <a:t>Sales Performance</a:t>
            </a:r>
          </a:p>
        </p:txBody>
      </p:sp>
      <p:pic>
        <p:nvPicPr>
          <p:cNvPr id="9" name="Picture 9"/>
          <p:cNvPicPr>
            <a:picLocks noChangeAspect="1"/>
          </p:cNvPicPr>
          <p:nvPr/>
        </p:nvPicPr>
        <p:blipFill>
          <a:blip r:embed="rId2"/>
          <a:stretch>
            <a:fillRect/>
          </a:stretch>
        </p:blipFill>
        <p:spPr>
          <a:xfrm>
            <a:off x="363738" y="3678236"/>
            <a:ext cx="9058922" cy="6336892"/>
          </a:xfrm>
          <a:prstGeom prst="rect">
            <a:avLst/>
          </a:prstGeom>
        </p:spPr>
      </p:pic>
      <p:sp>
        <p:nvSpPr>
          <p:cNvPr id="10" name="AutoShape 10"/>
          <p:cNvSpPr/>
          <p:nvPr/>
        </p:nvSpPr>
        <p:spPr>
          <a:xfrm>
            <a:off x="10096500" y="9253538"/>
            <a:ext cx="7162800" cy="0"/>
          </a:xfrm>
          <a:prstGeom prst="line">
            <a:avLst/>
          </a:prstGeom>
          <a:ln w="9525" cap="flat">
            <a:solidFill>
              <a:srgbClr val="1B322A"/>
            </a:solidFill>
            <a:prstDash val="solid"/>
            <a:headEnd type="none" w="sm" len="sm"/>
            <a:tailEnd type="none" w="sm" len="sm"/>
          </a:ln>
        </p:spPr>
        <p:txBody>
          <a:bodyPr/>
          <a:lstStyle/>
          <a:p>
            <a:endParaRPr lang="en-US"/>
          </a:p>
        </p:txBody>
      </p:sp>
      <p:sp>
        <p:nvSpPr>
          <p:cNvPr id="11" name="TextBox 11"/>
          <p:cNvSpPr txBox="1"/>
          <p:nvPr/>
        </p:nvSpPr>
        <p:spPr>
          <a:xfrm>
            <a:off x="14320838" y="2057400"/>
            <a:ext cx="2938462" cy="737235"/>
          </a:xfrm>
          <a:prstGeom prst="rect">
            <a:avLst/>
          </a:prstGeom>
        </p:spPr>
        <p:txBody>
          <a:bodyPr lIns="0" tIns="0" rIns="0" bIns="0" rtlCol="0" anchor="t">
            <a:spAutoFit/>
          </a:bodyPr>
          <a:lstStyle/>
          <a:p>
            <a:pPr algn="l">
              <a:lnSpc>
                <a:spcPts val="2940"/>
              </a:lnSpc>
            </a:pPr>
            <a:r>
              <a:rPr lang="en-US" sz="2100">
                <a:solidFill>
                  <a:srgbClr val="737373"/>
                </a:solidFill>
                <a:latin typeface="TT Interphases"/>
                <a:ea typeface="TT Interphases"/>
                <a:cs typeface="TT Interphases"/>
                <a:sym typeface="TT Interphases"/>
              </a:rPr>
              <a:t>Steady start, supported by enterprise deals.</a:t>
            </a:r>
          </a:p>
        </p:txBody>
      </p:sp>
      <p:grpSp>
        <p:nvGrpSpPr>
          <p:cNvPr id="12" name="Group 12"/>
          <p:cNvGrpSpPr/>
          <p:nvPr/>
        </p:nvGrpSpPr>
        <p:grpSpPr>
          <a:xfrm>
            <a:off x="10096500" y="1994535"/>
            <a:ext cx="952500" cy="952500"/>
            <a:chOff x="0" y="0"/>
            <a:chExt cx="713005" cy="713005"/>
          </a:xfrm>
        </p:grpSpPr>
        <p:sp>
          <p:nvSpPr>
            <p:cNvPr id="13" name="Freeform 13"/>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C9F1B7"/>
            </a:solidFill>
          </p:spPr>
          <p:txBody>
            <a:bodyPr/>
            <a:lstStyle/>
            <a:p>
              <a:endParaRPr lang="en-US"/>
            </a:p>
          </p:txBody>
        </p:sp>
        <p:sp>
          <p:nvSpPr>
            <p:cNvPr id="14" name="TextBox 14"/>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Q1</a:t>
              </a:r>
            </a:p>
          </p:txBody>
        </p:sp>
      </p:grpSp>
      <p:sp>
        <p:nvSpPr>
          <p:cNvPr id="15" name="AutoShape 15"/>
          <p:cNvSpPr/>
          <p:nvPr/>
        </p:nvSpPr>
        <p:spPr>
          <a:xfrm>
            <a:off x="10096500" y="1755458"/>
            <a:ext cx="7162800" cy="0"/>
          </a:xfrm>
          <a:prstGeom prst="line">
            <a:avLst/>
          </a:prstGeom>
          <a:ln w="9525" cap="flat">
            <a:solidFill>
              <a:srgbClr val="1B322A"/>
            </a:solidFill>
            <a:prstDash val="solid"/>
            <a:headEnd type="none" w="sm" len="sm"/>
            <a:tailEnd type="none" w="sm" len="sm"/>
          </a:ln>
        </p:spPr>
        <p:txBody>
          <a:bodyPr/>
          <a:lstStyle/>
          <a:p>
            <a:endParaRPr lang="en-US"/>
          </a:p>
        </p:txBody>
      </p:sp>
      <p:sp>
        <p:nvSpPr>
          <p:cNvPr id="16" name="TextBox 16"/>
          <p:cNvSpPr txBox="1"/>
          <p:nvPr/>
        </p:nvSpPr>
        <p:spPr>
          <a:xfrm>
            <a:off x="11382375" y="2200275"/>
            <a:ext cx="2663310" cy="636263"/>
          </a:xfrm>
          <a:prstGeom prst="rect">
            <a:avLst/>
          </a:prstGeom>
        </p:spPr>
        <p:txBody>
          <a:bodyPr lIns="0" tIns="0" rIns="0" bIns="0" rtlCol="0" anchor="t">
            <a:spAutoFit/>
          </a:bodyPr>
          <a:lstStyle/>
          <a:p>
            <a:pPr algn="l">
              <a:lnSpc>
                <a:spcPts val="4800"/>
              </a:lnSpc>
            </a:pPr>
            <a:r>
              <a:rPr lang="en-US" sz="4800" b="1" spc="-120">
                <a:solidFill>
                  <a:srgbClr val="1B322A"/>
                </a:solidFill>
                <a:latin typeface="Open Sauce Bold"/>
                <a:ea typeface="Open Sauce Bold"/>
                <a:cs typeface="Open Sauce Bold"/>
                <a:sym typeface="Open Sauce Bold"/>
              </a:rPr>
              <a:t>74.45 K</a:t>
            </a:r>
          </a:p>
        </p:txBody>
      </p:sp>
      <p:sp>
        <p:nvSpPr>
          <p:cNvPr id="17" name="TextBox 17"/>
          <p:cNvSpPr txBox="1"/>
          <p:nvPr/>
        </p:nvSpPr>
        <p:spPr>
          <a:xfrm>
            <a:off x="14320838" y="3615188"/>
            <a:ext cx="3769243" cy="1851711"/>
          </a:xfrm>
          <a:prstGeom prst="rect">
            <a:avLst/>
          </a:prstGeom>
        </p:spPr>
        <p:txBody>
          <a:bodyPr lIns="0" tIns="0" rIns="0" bIns="0" rtlCol="0" anchor="t">
            <a:spAutoFit/>
          </a:bodyPr>
          <a:lstStyle/>
          <a:p>
            <a:pPr algn="l">
              <a:lnSpc>
                <a:spcPts val="2940"/>
              </a:lnSpc>
            </a:pPr>
            <a:endParaRPr/>
          </a:p>
          <a:p>
            <a:pPr algn="l">
              <a:lnSpc>
                <a:spcPts val="2940"/>
              </a:lnSpc>
            </a:pPr>
            <a:r>
              <a:rPr lang="en-US" sz="2100">
                <a:solidFill>
                  <a:srgbClr val="737373"/>
                </a:solidFill>
                <a:latin typeface="TT Interphases"/>
                <a:ea typeface="TT Interphases"/>
                <a:cs typeface="TT Interphases"/>
                <a:sym typeface="TT Interphases"/>
              </a:rPr>
              <a:t>Moderate revenue growth supported by early seasonal campaigns.</a:t>
            </a:r>
          </a:p>
          <a:p>
            <a:pPr algn="l">
              <a:lnSpc>
                <a:spcPts val="2940"/>
              </a:lnSpc>
            </a:pPr>
            <a:endParaRPr lang="en-US" sz="2100">
              <a:solidFill>
                <a:srgbClr val="737373"/>
              </a:solidFill>
              <a:latin typeface="TT Interphases"/>
              <a:ea typeface="TT Interphases"/>
              <a:cs typeface="TT Interphases"/>
              <a:sym typeface="TT Interphases"/>
            </a:endParaRPr>
          </a:p>
        </p:txBody>
      </p:sp>
      <p:grpSp>
        <p:nvGrpSpPr>
          <p:cNvPr id="18" name="Group 18"/>
          <p:cNvGrpSpPr/>
          <p:nvPr/>
        </p:nvGrpSpPr>
        <p:grpSpPr>
          <a:xfrm>
            <a:off x="10096500" y="3870008"/>
            <a:ext cx="952500" cy="952500"/>
            <a:chOff x="0" y="0"/>
            <a:chExt cx="713005" cy="713005"/>
          </a:xfrm>
        </p:grpSpPr>
        <p:sp>
          <p:nvSpPr>
            <p:cNvPr id="19" name="Freeform 19"/>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C9F1B7"/>
            </a:solidFill>
          </p:spPr>
          <p:txBody>
            <a:bodyPr/>
            <a:lstStyle/>
            <a:p>
              <a:endParaRPr lang="en-US"/>
            </a:p>
          </p:txBody>
        </p:sp>
        <p:sp>
          <p:nvSpPr>
            <p:cNvPr id="20" name="TextBox 20"/>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Q2</a:t>
              </a:r>
            </a:p>
          </p:txBody>
        </p:sp>
      </p:grpSp>
      <p:sp>
        <p:nvSpPr>
          <p:cNvPr id="21" name="AutoShape 21"/>
          <p:cNvSpPr/>
          <p:nvPr/>
        </p:nvSpPr>
        <p:spPr>
          <a:xfrm>
            <a:off x="10096500" y="3627120"/>
            <a:ext cx="7162800" cy="0"/>
          </a:xfrm>
          <a:prstGeom prst="line">
            <a:avLst/>
          </a:prstGeom>
          <a:ln w="9525" cap="flat">
            <a:solidFill>
              <a:srgbClr val="1B322A"/>
            </a:solidFill>
            <a:prstDash val="solid"/>
            <a:headEnd type="none" w="sm" len="sm"/>
            <a:tailEnd type="none" w="sm" len="sm"/>
          </a:ln>
        </p:spPr>
        <p:txBody>
          <a:bodyPr/>
          <a:lstStyle/>
          <a:p>
            <a:endParaRPr lang="en-US"/>
          </a:p>
        </p:txBody>
      </p:sp>
      <p:sp>
        <p:nvSpPr>
          <p:cNvPr id="22" name="TextBox 22"/>
          <p:cNvSpPr txBox="1"/>
          <p:nvPr/>
        </p:nvSpPr>
        <p:spPr>
          <a:xfrm>
            <a:off x="11382375" y="4075748"/>
            <a:ext cx="2663310" cy="636263"/>
          </a:xfrm>
          <a:prstGeom prst="rect">
            <a:avLst/>
          </a:prstGeom>
        </p:spPr>
        <p:txBody>
          <a:bodyPr lIns="0" tIns="0" rIns="0" bIns="0" rtlCol="0" anchor="t">
            <a:spAutoFit/>
          </a:bodyPr>
          <a:lstStyle/>
          <a:p>
            <a:pPr marL="0" lvl="0" indent="0" algn="l">
              <a:lnSpc>
                <a:spcPts val="4800"/>
              </a:lnSpc>
              <a:spcBef>
                <a:spcPct val="0"/>
              </a:spcBef>
            </a:pPr>
            <a:r>
              <a:rPr lang="en-US" sz="4800" b="1" spc="-120">
                <a:solidFill>
                  <a:srgbClr val="1B322A"/>
                </a:solidFill>
                <a:latin typeface="Open Sauce Bold"/>
                <a:ea typeface="Open Sauce Bold"/>
                <a:cs typeface="Open Sauce Bold"/>
                <a:sym typeface="Open Sauce Bold"/>
              </a:rPr>
              <a:t>85.73 </a:t>
            </a:r>
            <a:r>
              <a:rPr lang="en-US" sz="4800" b="1" u="none" strike="noStrike" spc="-120">
                <a:solidFill>
                  <a:srgbClr val="1B322A"/>
                </a:solidFill>
                <a:latin typeface="Open Sauce Bold"/>
                <a:ea typeface="Open Sauce Bold"/>
                <a:cs typeface="Open Sauce Bold"/>
                <a:sym typeface="Open Sauce Bold"/>
              </a:rPr>
              <a:t>K</a:t>
            </a:r>
          </a:p>
        </p:txBody>
      </p:sp>
      <p:sp>
        <p:nvSpPr>
          <p:cNvPr id="23" name="TextBox 23"/>
          <p:cNvSpPr txBox="1"/>
          <p:nvPr/>
        </p:nvSpPr>
        <p:spPr>
          <a:xfrm>
            <a:off x="14320838" y="5808345"/>
            <a:ext cx="3481665" cy="1108741"/>
          </a:xfrm>
          <a:prstGeom prst="rect">
            <a:avLst/>
          </a:prstGeom>
        </p:spPr>
        <p:txBody>
          <a:bodyPr lIns="0" tIns="0" rIns="0" bIns="0" rtlCol="0" anchor="t">
            <a:spAutoFit/>
          </a:bodyPr>
          <a:lstStyle/>
          <a:p>
            <a:pPr algn="l">
              <a:lnSpc>
                <a:spcPts val="2940"/>
              </a:lnSpc>
            </a:pPr>
            <a:r>
              <a:rPr lang="en-US" sz="2100">
                <a:solidFill>
                  <a:srgbClr val="737373"/>
                </a:solidFill>
                <a:latin typeface="TT Interphases"/>
                <a:ea typeface="TT Interphases"/>
                <a:cs typeface="TT Interphases"/>
                <a:sym typeface="TT Interphases"/>
              </a:rPr>
              <a:t>Significant sales surge accompanied by a sharp rise in promotional discounts.</a:t>
            </a:r>
          </a:p>
        </p:txBody>
      </p:sp>
      <p:grpSp>
        <p:nvGrpSpPr>
          <p:cNvPr id="24" name="Group 24"/>
          <p:cNvGrpSpPr/>
          <p:nvPr/>
        </p:nvGrpSpPr>
        <p:grpSpPr>
          <a:xfrm>
            <a:off x="10096500" y="5745480"/>
            <a:ext cx="952500" cy="952500"/>
            <a:chOff x="0" y="0"/>
            <a:chExt cx="713005" cy="713005"/>
          </a:xfrm>
        </p:grpSpPr>
        <p:sp>
          <p:nvSpPr>
            <p:cNvPr id="25" name="Freeform 25"/>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C9F1B7"/>
            </a:solidFill>
          </p:spPr>
          <p:txBody>
            <a:bodyPr/>
            <a:lstStyle/>
            <a:p>
              <a:endParaRPr lang="en-US"/>
            </a:p>
          </p:txBody>
        </p:sp>
        <p:sp>
          <p:nvSpPr>
            <p:cNvPr id="26" name="TextBox 26"/>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Q3</a:t>
              </a:r>
            </a:p>
          </p:txBody>
        </p:sp>
      </p:grpSp>
      <p:sp>
        <p:nvSpPr>
          <p:cNvPr id="27" name="AutoShape 27"/>
          <p:cNvSpPr/>
          <p:nvPr/>
        </p:nvSpPr>
        <p:spPr>
          <a:xfrm>
            <a:off x="10096500" y="5502593"/>
            <a:ext cx="7162800" cy="0"/>
          </a:xfrm>
          <a:prstGeom prst="line">
            <a:avLst/>
          </a:prstGeom>
          <a:ln w="9525" cap="flat">
            <a:solidFill>
              <a:srgbClr val="1B322A"/>
            </a:solidFill>
            <a:prstDash val="solid"/>
            <a:headEnd type="none" w="sm" len="sm"/>
            <a:tailEnd type="none" w="sm" len="sm"/>
          </a:ln>
        </p:spPr>
        <p:txBody>
          <a:bodyPr/>
          <a:lstStyle/>
          <a:p>
            <a:endParaRPr lang="en-US"/>
          </a:p>
        </p:txBody>
      </p:sp>
      <p:sp>
        <p:nvSpPr>
          <p:cNvPr id="28" name="TextBox 28"/>
          <p:cNvSpPr txBox="1"/>
          <p:nvPr/>
        </p:nvSpPr>
        <p:spPr>
          <a:xfrm>
            <a:off x="11382375" y="5951220"/>
            <a:ext cx="2663310" cy="636263"/>
          </a:xfrm>
          <a:prstGeom prst="rect">
            <a:avLst/>
          </a:prstGeom>
        </p:spPr>
        <p:txBody>
          <a:bodyPr lIns="0" tIns="0" rIns="0" bIns="0" rtlCol="0" anchor="t">
            <a:spAutoFit/>
          </a:bodyPr>
          <a:lstStyle/>
          <a:p>
            <a:pPr marL="0" lvl="0" indent="0" algn="l">
              <a:lnSpc>
                <a:spcPts val="4800"/>
              </a:lnSpc>
              <a:spcBef>
                <a:spcPct val="0"/>
              </a:spcBef>
            </a:pPr>
            <a:r>
              <a:rPr lang="en-US" sz="4800" b="1" spc="-120">
                <a:solidFill>
                  <a:srgbClr val="1B322A"/>
                </a:solidFill>
                <a:latin typeface="Open Sauce Bold"/>
                <a:ea typeface="Open Sauce Bold"/>
                <a:cs typeface="Open Sauce Bold"/>
                <a:sym typeface="Open Sauce Bold"/>
              </a:rPr>
              <a:t>145.42 </a:t>
            </a:r>
            <a:r>
              <a:rPr lang="en-US" sz="4800" b="1" u="none" strike="noStrike" spc="-120">
                <a:solidFill>
                  <a:srgbClr val="1B322A"/>
                </a:solidFill>
                <a:latin typeface="Open Sauce Bold"/>
                <a:ea typeface="Open Sauce Bold"/>
                <a:cs typeface="Open Sauce Bold"/>
                <a:sym typeface="Open Sauce Bold"/>
              </a:rPr>
              <a:t>K</a:t>
            </a:r>
          </a:p>
        </p:txBody>
      </p:sp>
      <p:sp>
        <p:nvSpPr>
          <p:cNvPr id="29" name="TextBox 29"/>
          <p:cNvSpPr txBox="1"/>
          <p:nvPr/>
        </p:nvSpPr>
        <p:spPr>
          <a:xfrm>
            <a:off x="14320838" y="7683818"/>
            <a:ext cx="3481665" cy="1480226"/>
          </a:xfrm>
          <a:prstGeom prst="rect">
            <a:avLst/>
          </a:prstGeom>
        </p:spPr>
        <p:txBody>
          <a:bodyPr lIns="0" tIns="0" rIns="0" bIns="0" rtlCol="0" anchor="t">
            <a:spAutoFit/>
          </a:bodyPr>
          <a:lstStyle/>
          <a:p>
            <a:pPr algn="l">
              <a:lnSpc>
                <a:spcPts val="2940"/>
              </a:lnSpc>
            </a:pPr>
            <a:r>
              <a:rPr lang="en-US" sz="2100">
                <a:solidFill>
                  <a:srgbClr val="737373"/>
                </a:solidFill>
                <a:latin typeface="TT Interphases"/>
                <a:ea typeface="TT Interphases"/>
                <a:cs typeface="TT Interphases"/>
                <a:sym typeface="TT Interphases"/>
              </a:rPr>
              <a:t>Peak revenue period driven by aggressive year-end holiday promotions and high discount volume.</a:t>
            </a:r>
          </a:p>
        </p:txBody>
      </p:sp>
      <p:grpSp>
        <p:nvGrpSpPr>
          <p:cNvPr id="30" name="Group 30"/>
          <p:cNvGrpSpPr/>
          <p:nvPr/>
        </p:nvGrpSpPr>
        <p:grpSpPr>
          <a:xfrm>
            <a:off x="10096500" y="7620953"/>
            <a:ext cx="952500" cy="952500"/>
            <a:chOff x="0" y="0"/>
            <a:chExt cx="713005" cy="713005"/>
          </a:xfrm>
        </p:grpSpPr>
        <p:sp>
          <p:nvSpPr>
            <p:cNvPr id="31" name="Freeform 31"/>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C9F1B7"/>
            </a:solidFill>
          </p:spPr>
          <p:txBody>
            <a:bodyPr/>
            <a:lstStyle/>
            <a:p>
              <a:endParaRPr lang="en-US"/>
            </a:p>
          </p:txBody>
        </p:sp>
        <p:sp>
          <p:nvSpPr>
            <p:cNvPr id="32" name="TextBox 32"/>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Q4</a:t>
              </a:r>
            </a:p>
          </p:txBody>
        </p:sp>
      </p:grpSp>
      <p:sp>
        <p:nvSpPr>
          <p:cNvPr id="33" name="AutoShape 33"/>
          <p:cNvSpPr/>
          <p:nvPr/>
        </p:nvSpPr>
        <p:spPr>
          <a:xfrm>
            <a:off x="10096500" y="7378065"/>
            <a:ext cx="7162800" cy="0"/>
          </a:xfrm>
          <a:prstGeom prst="line">
            <a:avLst/>
          </a:prstGeom>
          <a:ln w="9525" cap="flat">
            <a:solidFill>
              <a:srgbClr val="1B322A"/>
            </a:solidFill>
            <a:prstDash val="solid"/>
            <a:headEnd type="none" w="sm" len="sm"/>
            <a:tailEnd type="none" w="sm" len="sm"/>
          </a:ln>
        </p:spPr>
        <p:txBody>
          <a:bodyPr/>
          <a:lstStyle/>
          <a:p>
            <a:endParaRPr lang="en-US"/>
          </a:p>
        </p:txBody>
      </p:sp>
      <p:sp>
        <p:nvSpPr>
          <p:cNvPr id="34" name="TextBox 34"/>
          <p:cNvSpPr txBox="1"/>
          <p:nvPr/>
        </p:nvSpPr>
        <p:spPr>
          <a:xfrm>
            <a:off x="11382375" y="7826693"/>
            <a:ext cx="2663310" cy="636263"/>
          </a:xfrm>
          <a:prstGeom prst="rect">
            <a:avLst/>
          </a:prstGeom>
        </p:spPr>
        <p:txBody>
          <a:bodyPr lIns="0" tIns="0" rIns="0" bIns="0" rtlCol="0" anchor="t">
            <a:spAutoFit/>
          </a:bodyPr>
          <a:lstStyle/>
          <a:p>
            <a:pPr marL="0" lvl="0" indent="0" algn="l">
              <a:lnSpc>
                <a:spcPts val="4800"/>
              </a:lnSpc>
              <a:spcBef>
                <a:spcPct val="0"/>
              </a:spcBef>
            </a:pPr>
            <a:r>
              <a:rPr lang="en-US" sz="4800" b="1" spc="-120">
                <a:solidFill>
                  <a:srgbClr val="1B322A"/>
                </a:solidFill>
                <a:latin typeface="Open Sauce Bold"/>
                <a:ea typeface="Open Sauce Bold"/>
                <a:cs typeface="Open Sauce Bold"/>
                <a:sym typeface="Open Sauce Bold"/>
              </a:rPr>
              <a:t>179.63 </a:t>
            </a:r>
            <a:r>
              <a:rPr lang="en-US" sz="4800" b="1" u="none" strike="noStrike" spc="-120">
                <a:solidFill>
                  <a:srgbClr val="1B322A"/>
                </a:solidFill>
                <a:latin typeface="Open Sauce Bold"/>
                <a:ea typeface="Open Sauce Bold"/>
                <a:cs typeface="Open Sauce Bold"/>
                <a:sym typeface="Open Sauce Bold"/>
              </a:rPr>
              <a:t>K</a:t>
            </a:r>
          </a:p>
        </p:txBody>
      </p:sp>
      <p:sp>
        <p:nvSpPr>
          <p:cNvPr id="35" name="TextBox 35"/>
          <p:cNvSpPr txBox="1"/>
          <p:nvPr/>
        </p:nvSpPr>
        <p:spPr>
          <a:xfrm>
            <a:off x="10096500" y="1028700"/>
            <a:ext cx="7162800" cy="485841"/>
          </a:xfrm>
          <a:prstGeom prst="rect">
            <a:avLst/>
          </a:prstGeom>
        </p:spPr>
        <p:txBody>
          <a:bodyPr lIns="0" tIns="0" rIns="0" bIns="0" rtlCol="0" anchor="t">
            <a:spAutoFit/>
          </a:bodyPr>
          <a:lstStyle/>
          <a:p>
            <a:pPr marL="0" lvl="0" indent="0" algn="l">
              <a:lnSpc>
                <a:spcPts val="3840"/>
              </a:lnSpc>
              <a:spcBef>
                <a:spcPct val="0"/>
              </a:spcBef>
            </a:pPr>
            <a:r>
              <a:rPr lang="en-US" sz="3200" b="1" u="none" strike="noStrike">
                <a:solidFill>
                  <a:srgbClr val="1B322A"/>
                </a:solidFill>
                <a:latin typeface="Open Sauce Bold"/>
                <a:ea typeface="Open Sauce Bold"/>
                <a:cs typeface="Open Sauce Bold"/>
                <a:sym typeface="Open Sauce Bold"/>
              </a:rPr>
              <a:t>Revenue By Quarter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322A"/>
        </a:solidFill>
        <a:effectLst/>
      </p:bgPr>
    </p:bg>
    <p:spTree>
      <p:nvGrpSpPr>
        <p:cNvPr id="1" name=""/>
        <p:cNvGrpSpPr/>
        <p:nvPr/>
      </p:nvGrpSpPr>
      <p:grpSpPr>
        <a:xfrm>
          <a:off x="0" y="0"/>
          <a:ext cx="0" cy="0"/>
          <a:chOff x="0" y="0"/>
          <a:chExt cx="0" cy="0"/>
        </a:xfrm>
      </p:grpSpPr>
      <p:sp>
        <p:nvSpPr>
          <p:cNvPr id="2" name="Freeform 2"/>
          <p:cNvSpPr/>
          <p:nvPr/>
        </p:nvSpPr>
        <p:spPr>
          <a:xfrm>
            <a:off x="823632" y="1028700"/>
            <a:ext cx="16640735" cy="8229600"/>
          </a:xfrm>
          <a:custGeom>
            <a:avLst/>
            <a:gdLst/>
            <a:ahLst/>
            <a:cxnLst/>
            <a:rect l="l" t="t" r="r" b="b"/>
            <a:pathLst>
              <a:path w="16640735" h="8229600">
                <a:moveTo>
                  <a:pt x="0" y="0"/>
                </a:moveTo>
                <a:lnTo>
                  <a:pt x="16640736" y="0"/>
                </a:lnTo>
                <a:lnTo>
                  <a:pt x="16640736" y="8229600"/>
                </a:lnTo>
                <a:lnTo>
                  <a:pt x="0" y="8229600"/>
                </a:lnTo>
                <a:lnTo>
                  <a:pt x="0" y="0"/>
                </a:lnTo>
                <a:close/>
              </a:path>
            </a:pathLst>
          </a:custGeom>
          <a:blipFill>
            <a:blip>
              <a:alphaModFix amt="9999"/>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3" name="Group 3"/>
          <p:cNvGrpSpPr/>
          <p:nvPr/>
        </p:nvGrpSpPr>
        <p:grpSpPr>
          <a:xfrm rot="5400000">
            <a:off x="1006384" y="1051016"/>
            <a:ext cx="1093470" cy="1048839"/>
            <a:chOff x="0" y="0"/>
            <a:chExt cx="622300" cy="596900"/>
          </a:xfrm>
        </p:grpSpPr>
        <p:sp>
          <p:nvSpPr>
            <p:cNvPr id="4" name="Freeform 4"/>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C9F1B7">
                    <a:alpha val="100000"/>
                  </a:srgbClr>
                </a:gs>
                <a:gs pos="100000">
                  <a:srgbClr val="C9F1B8">
                    <a:alpha val="0"/>
                  </a:srgbClr>
                </a:gs>
              </a:gsLst>
              <a:lin ang="0"/>
            </a:gradFill>
          </p:spPr>
          <p:txBody>
            <a:bodyPr/>
            <a:lstStyle/>
            <a:p>
              <a:endParaRPr lang="en-US"/>
            </a:p>
          </p:txBody>
        </p:sp>
        <p:sp>
          <p:nvSpPr>
            <p:cNvPr id="5" name="TextBox 5"/>
            <p:cNvSpPr txBox="1"/>
            <p:nvPr/>
          </p:nvSpPr>
          <p:spPr>
            <a:xfrm>
              <a:off x="0" y="155575"/>
              <a:ext cx="622300" cy="314325"/>
            </a:xfrm>
            <a:prstGeom prst="rect">
              <a:avLst/>
            </a:prstGeom>
          </p:spPr>
          <p:txBody>
            <a:bodyPr lIns="50800" tIns="50800" rIns="50800" bIns="50800" rtlCol="0" anchor="ctr"/>
            <a:lstStyle/>
            <a:p>
              <a:pPr algn="ctr">
                <a:lnSpc>
                  <a:spcPts val="1890"/>
                </a:lnSpc>
              </a:pPr>
              <a:endParaRPr/>
            </a:p>
          </p:txBody>
        </p:sp>
      </p:grpSp>
      <p:sp>
        <p:nvSpPr>
          <p:cNvPr id="6" name="TextBox 6"/>
          <p:cNvSpPr txBox="1"/>
          <p:nvPr/>
        </p:nvSpPr>
        <p:spPr>
          <a:xfrm>
            <a:off x="2409349" y="1171575"/>
            <a:ext cx="4829651" cy="1868937"/>
          </a:xfrm>
          <a:prstGeom prst="rect">
            <a:avLst/>
          </a:prstGeom>
        </p:spPr>
        <p:txBody>
          <a:bodyPr lIns="0" tIns="0" rIns="0" bIns="0" rtlCol="0" anchor="t">
            <a:spAutoFit/>
          </a:bodyPr>
          <a:lstStyle/>
          <a:p>
            <a:pPr algn="l">
              <a:lnSpc>
                <a:spcPts val="7200"/>
              </a:lnSpc>
            </a:pPr>
            <a:r>
              <a:rPr lang="en-US" sz="7200" b="1">
                <a:solidFill>
                  <a:srgbClr val="FFFFFF"/>
                </a:solidFill>
                <a:latin typeface="Open Sauce Bold"/>
                <a:ea typeface="Open Sauce Bold"/>
                <a:cs typeface="Open Sauce Bold"/>
                <a:sym typeface="Open Sauce Bold"/>
              </a:rPr>
              <a:t>Sales by </a:t>
            </a:r>
            <a:r>
              <a:rPr lang="en-US" sz="7200" b="1">
                <a:solidFill>
                  <a:srgbClr val="C9F1B7"/>
                </a:solidFill>
                <a:latin typeface="Open Sauce Bold"/>
                <a:ea typeface="Open Sauce Bold"/>
                <a:cs typeface="Open Sauce Bold"/>
                <a:sym typeface="Open Sauce Bold"/>
              </a:rPr>
              <a:t>Region</a:t>
            </a:r>
          </a:p>
        </p:txBody>
      </p:sp>
      <p:sp>
        <p:nvSpPr>
          <p:cNvPr id="7" name="TextBox 7"/>
          <p:cNvSpPr txBox="1"/>
          <p:nvPr/>
        </p:nvSpPr>
        <p:spPr>
          <a:xfrm>
            <a:off x="7715250" y="4193381"/>
            <a:ext cx="4414838" cy="737235"/>
          </a:xfrm>
          <a:prstGeom prst="rect">
            <a:avLst/>
          </a:prstGeom>
        </p:spPr>
        <p:txBody>
          <a:bodyPr lIns="0" tIns="0" rIns="0" bIns="0" rtlCol="0" anchor="t">
            <a:spAutoFit/>
          </a:bodyPr>
          <a:lstStyle/>
          <a:p>
            <a:pPr algn="l">
              <a:lnSpc>
                <a:spcPts val="2940"/>
              </a:lnSpc>
            </a:pPr>
            <a:r>
              <a:rPr lang="en-US" sz="2100">
                <a:solidFill>
                  <a:srgbClr val="FFFFFF"/>
                </a:solidFill>
                <a:latin typeface="TT Interphases"/>
                <a:ea typeface="TT Interphases"/>
                <a:cs typeface="TT Interphases"/>
                <a:sym typeface="TT Interphases"/>
              </a:rPr>
              <a:t>Continues to lead in revenue and customer base.</a:t>
            </a:r>
          </a:p>
        </p:txBody>
      </p:sp>
      <p:sp>
        <p:nvSpPr>
          <p:cNvPr id="8" name="TextBox 8"/>
          <p:cNvSpPr txBox="1"/>
          <p:nvPr/>
        </p:nvSpPr>
        <p:spPr>
          <a:xfrm>
            <a:off x="7715250" y="7944802"/>
            <a:ext cx="4414838" cy="737235"/>
          </a:xfrm>
          <a:prstGeom prst="rect">
            <a:avLst/>
          </a:prstGeom>
        </p:spPr>
        <p:txBody>
          <a:bodyPr lIns="0" tIns="0" rIns="0" bIns="0" rtlCol="0" anchor="t">
            <a:spAutoFit/>
          </a:bodyPr>
          <a:lstStyle/>
          <a:p>
            <a:pPr algn="l">
              <a:lnSpc>
                <a:spcPts val="2940"/>
              </a:lnSpc>
            </a:pPr>
            <a:r>
              <a:rPr lang="en-US" sz="2100">
                <a:solidFill>
                  <a:srgbClr val="FFFFFF"/>
                </a:solidFill>
                <a:latin typeface="TT Interphases"/>
                <a:ea typeface="TT Interphases"/>
                <a:cs typeface="TT Interphases"/>
                <a:sym typeface="TT Interphases"/>
              </a:rPr>
              <a:t>Fastest-growing region with new partnerships.</a:t>
            </a:r>
          </a:p>
        </p:txBody>
      </p:sp>
      <p:sp>
        <p:nvSpPr>
          <p:cNvPr id="9" name="TextBox 9"/>
          <p:cNvSpPr txBox="1"/>
          <p:nvPr/>
        </p:nvSpPr>
        <p:spPr>
          <a:xfrm>
            <a:off x="12844463" y="4193381"/>
            <a:ext cx="4414838" cy="737235"/>
          </a:xfrm>
          <a:prstGeom prst="rect">
            <a:avLst/>
          </a:prstGeom>
        </p:spPr>
        <p:txBody>
          <a:bodyPr lIns="0" tIns="0" rIns="0" bIns="0" rtlCol="0" anchor="t">
            <a:spAutoFit/>
          </a:bodyPr>
          <a:lstStyle/>
          <a:p>
            <a:pPr algn="l">
              <a:lnSpc>
                <a:spcPts val="2940"/>
              </a:lnSpc>
            </a:pPr>
            <a:r>
              <a:rPr lang="en-US" sz="2100">
                <a:solidFill>
                  <a:srgbClr val="FFFFFF"/>
                </a:solidFill>
                <a:latin typeface="TT Interphases"/>
                <a:ea typeface="TT Interphases"/>
                <a:cs typeface="TT Interphases"/>
                <a:sym typeface="TT Interphases"/>
              </a:rPr>
              <a:t>Stable growth with strong SMB engagement.</a:t>
            </a:r>
          </a:p>
        </p:txBody>
      </p:sp>
      <p:sp>
        <p:nvSpPr>
          <p:cNvPr id="10" name="TextBox 10"/>
          <p:cNvSpPr txBox="1"/>
          <p:nvPr/>
        </p:nvSpPr>
        <p:spPr>
          <a:xfrm>
            <a:off x="12844463" y="7944802"/>
            <a:ext cx="4414838" cy="737235"/>
          </a:xfrm>
          <a:prstGeom prst="rect">
            <a:avLst/>
          </a:prstGeom>
        </p:spPr>
        <p:txBody>
          <a:bodyPr lIns="0" tIns="0" rIns="0" bIns="0" rtlCol="0" anchor="t">
            <a:spAutoFit/>
          </a:bodyPr>
          <a:lstStyle/>
          <a:p>
            <a:pPr algn="l">
              <a:lnSpc>
                <a:spcPts val="2940"/>
              </a:lnSpc>
            </a:pPr>
            <a:r>
              <a:rPr lang="en-US" sz="2100">
                <a:solidFill>
                  <a:srgbClr val="FFFFFF"/>
                </a:solidFill>
                <a:latin typeface="TT Interphases"/>
                <a:ea typeface="TT Interphases"/>
                <a:cs typeface="TT Interphases"/>
                <a:sym typeface="TT Interphases"/>
              </a:rPr>
              <a:t>Merging markets with great expansion potential.</a:t>
            </a:r>
          </a:p>
        </p:txBody>
      </p:sp>
      <p:sp>
        <p:nvSpPr>
          <p:cNvPr id="11" name="AutoShape 11"/>
          <p:cNvSpPr/>
          <p:nvPr/>
        </p:nvSpPr>
        <p:spPr>
          <a:xfrm>
            <a:off x="7715250" y="9258300"/>
            <a:ext cx="4414838" cy="0"/>
          </a:xfrm>
          <a:prstGeom prst="line">
            <a:avLst/>
          </a:prstGeom>
          <a:ln w="9525" cap="flat">
            <a:solidFill>
              <a:srgbClr val="FFFFFF"/>
            </a:solidFill>
            <a:prstDash val="solid"/>
            <a:headEnd type="none" w="sm" len="sm"/>
            <a:tailEnd type="none" w="sm" len="sm"/>
          </a:ln>
        </p:spPr>
        <p:txBody>
          <a:bodyPr/>
          <a:lstStyle/>
          <a:p>
            <a:endParaRPr lang="en-US"/>
          </a:p>
        </p:txBody>
      </p:sp>
      <p:sp>
        <p:nvSpPr>
          <p:cNvPr id="12" name="AutoShape 12"/>
          <p:cNvSpPr/>
          <p:nvPr/>
        </p:nvSpPr>
        <p:spPr>
          <a:xfrm>
            <a:off x="12844463" y="9258300"/>
            <a:ext cx="4414837" cy="0"/>
          </a:xfrm>
          <a:prstGeom prst="line">
            <a:avLst/>
          </a:prstGeom>
          <a:ln w="9525" cap="flat">
            <a:solidFill>
              <a:srgbClr val="FFFFFF"/>
            </a:solidFill>
            <a:prstDash val="solid"/>
            <a:headEnd type="none" w="sm" len="sm"/>
            <a:tailEnd type="none" w="sm" len="sm"/>
          </a:ln>
        </p:spPr>
        <p:txBody>
          <a:bodyPr/>
          <a:lstStyle/>
          <a:p>
            <a:endParaRPr lang="en-US"/>
          </a:p>
        </p:txBody>
      </p:sp>
      <p:sp>
        <p:nvSpPr>
          <p:cNvPr id="13" name="AutoShape 13"/>
          <p:cNvSpPr/>
          <p:nvPr/>
        </p:nvSpPr>
        <p:spPr>
          <a:xfrm>
            <a:off x="7715250" y="1755458"/>
            <a:ext cx="9544050" cy="0"/>
          </a:xfrm>
          <a:prstGeom prst="line">
            <a:avLst/>
          </a:prstGeom>
          <a:ln w="9525" cap="flat">
            <a:solidFill>
              <a:srgbClr val="FFFFFF"/>
            </a:solidFill>
            <a:prstDash val="solid"/>
            <a:headEnd type="none" w="sm" len="sm"/>
            <a:tailEnd type="none" w="sm" len="sm"/>
          </a:ln>
        </p:spPr>
        <p:txBody>
          <a:bodyPr/>
          <a:lstStyle/>
          <a:p>
            <a:endParaRPr lang="en-US"/>
          </a:p>
        </p:txBody>
      </p:sp>
      <p:sp>
        <p:nvSpPr>
          <p:cNvPr id="14" name="AutoShape 14"/>
          <p:cNvSpPr/>
          <p:nvPr/>
        </p:nvSpPr>
        <p:spPr>
          <a:xfrm>
            <a:off x="7715250" y="5506879"/>
            <a:ext cx="4414837" cy="0"/>
          </a:xfrm>
          <a:prstGeom prst="line">
            <a:avLst/>
          </a:prstGeom>
          <a:ln w="9525" cap="flat">
            <a:solidFill>
              <a:srgbClr val="FFFFFF"/>
            </a:solidFill>
            <a:prstDash val="solid"/>
            <a:headEnd type="none" w="sm" len="sm"/>
            <a:tailEnd type="none" w="sm" len="sm"/>
          </a:ln>
        </p:spPr>
        <p:txBody>
          <a:bodyPr/>
          <a:lstStyle/>
          <a:p>
            <a:endParaRPr lang="en-US"/>
          </a:p>
        </p:txBody>
      </p:sp>
      <p:sp>
        <p:nvSpPr>
          <p:cNvPr id="15" name="AutoShape 15"/>
          <p:cNvSpPr/>
          <p:nvPr/>
        </p:nvSpPr>
        <p:spPr>
          <a:xfrm>
            <a:off x="12844463" y="5506879"/>
            <a:ext cx="4414837" cy="0"/>
          </a:xfrm>
          <a:prstGeom prst="line">
            <a:avLst/>
          </a:prstGeom>
          <a:ln w="9525" cap="flat">
            <a:solidFill>
              <a:srgbClr val="FFFFFF"/>
            </a:solidFill>
            <a:prstDash val="solid"/>
            <a:headEnd type="none" w="sm" len="sm"/>
            <a:tailEnd type="none" w="sm" len="sm"/>
          </a:ln>
        </p:spPr>
        <p:txBody>
          <a:bodyPr/>
          <a:lstStyle/>
          <a:p>
            <a:endParaRPr lang="en-US"/>
          </a:p>
        </p:txBody>
      </p:sp>
      <p:sp>
        <p:nvSpPr>
          <p:cNvPr id="16" name="TextBox 16"/>
          <p:cNvSpPr txBox="1"/>
          <p:nvPr/>
        </p:nvSpPr>
        <p:spPr>
          <a:xfrm>
            <a:off x="7715250" y="1028700"/>
            <a:ext cx="9544050" cy="485841"/>
          </a:xfrm>
          <a:prstGeom prst="rect">
            <a:avLst/>
          </a:prstGeom>
        </p:spPr>
        <p:txBody>
          <a:bodyPr lIns="0" tIns="0" rIns="0" bIns="0" rtlCol="0" anchor="t">
            <a:spAutoFit/>
          </a:bodyPr>
          <a:lstStyle/>
          <a:p>
            <a:pPr marL="0" lvl="0" indent="0" algn="l">
              <a:lnSpc>
                <a:spcPts val="3840"/>
              </a:lnSpc>
              <a:spcBef>
                <a:spcPct val="0"/>
              </a:spcBef>
            </a:pPr>
            <a:r>
              <a:rPr lang="en-US" sz="3200" b="1" u="none" strike="noStrike">
                <a:solidFill>
                  <a:srgbClr val="C9F1B7"/>
                </a:solidFill>
                <a:latin typeface="Open Sauce Bold"/>
                <a:ea typeface="Open Sauce Bold"/>
                <a:cs typeface="Open Sauce Bold"/>
                <a:sym typeface="Open Sauce Bold"/>
              </a:rPr>
              <a:t>Regional Sales Distribution</a:t>
            </a:r>
          </a:p>
        </p:txBody>
      </p:sp>
      <p:sp>
        <p:nvSpPr>
          <p:cNvPr id="17" name="TextBox 17"/>
          <p:cNvSpPr txBox="1"/>
          <p:nvPr/>
        </p:nvSpPr>
        <p:spPr>
          <a:xfrm>
            <a:off x="7715250" y="3839030"/>
            <a:ext cx="4414838" cy="354299"/>
          </a:xfrm>
          <a:prstGeom prst="rect">
            <a:avLst/>
          </a:prstGeom>
        </p:spPr>
        <p:txBody>
          <a:bodyPr lIns="0" tIns="0" rIns="0" bIns="0" rtlCol="0" anchor="t">
            <a:spAutoFit/>
          </a:bodyPr>
          <a:lstStyle/>
          <a:p>
            <a:pPr algn="l">
              <a:lnSpc>
                <a:spcPts val="2519"/>
              </a:lnSpc>
            </a:pPr>
            <a:r>
              <a:rPr lang="en-US" sz="2799" b="1">
                <a:solidFill>
                  <a:srgbClr val="C9F1B7"/>
                </a:solidFill>
                <a:latin typeface="Open Sauce Bold"/>
                <a:ea typeface="Open Sauce Bold"/>
                <a:cs typeface="Open Sauce Bold"/>
                <a:sym typeface="Open Sauce Bold"/>
              </a:rPr>
              <a:t>WEST</a:t>
            </a:r>
          </a:p>
        </p:txBody>
      </p:sp>
      <p:sp>
        <p:nvSpPr>
          <p:cNvPr id="18" name="TextBox 18"/>
          <p:cNvSpPr txBox="1"/>
          <p:nvPr/>
        </p:nvSpPr>
        <p:spPr>
          <a:xfrm>
            <a:off x="7715250" y="7590451"/>
            <a:ext cx="4414838" cy="354299"/>
          </a:xfrm>
          <a:prstGeom prst="rect">
            <a:avLst/>
          </a:prstGeom>
        </p:spPr>
        <p:txBody>
          <a:bodyPr lIns="0" tIns="0" rIns="0" bIns="0" rtlCol="0" anchor="t">
            <a:spAutoFit/>
          </a:bodyPr>
          <a:lstStyle/>
          <a:p>
            <a:pPr algn="l">
              <a:lnSpc>
                <a:spcPts val="2519"/>
              </a:lnSpc>
            </a:pPr>
            <a:r>
              <a:rPr lang="en-US" sz="2799" b="1">
                <a:solidFill>
                  <a:srgbClr val="C9F1B7"/>
                </a:solidFill>
                <a:latin typeface="Open Sauce Bold"/>
                <a:ea typeface="Open Sauce Bold"/>
                <a:cs typeface="Open Sauce Bold"/>
                <a:sym typeface="Open Sauce Bold"/>
              </a:rPr>
              <a:t>Central</a:t>
            </a:r>
          </a:p>
        </p:txBody>
      </p:sp>
      <p:sp>
        <p:nvSpPr>
          <p:cNvPr id="19" name="TextBox 19"/>
          <p:cNvSpPr txBox="1"/>
          <p:nvPr/>
        </p:nvSpPr>
        <p:spPr>
          <a:xfrm>
            <a:off x="12844463" y="3839030"/>
            <a:ext cx="4414837" cy="354299"/>
          </a:xfrm>
          <a:prstGeom prst="rect">
            <a:avLst/>
          </a:prstGeom>
        </p:spPr>
        <p:txBody>
          <a:bodyPr lIns="0" tIns="0" rIns="0" bIns="0" rtlCol="0" anchor="t">
            <a:spAutoFit/>
          </a:bodyPr>
          <a:lstStyle/>
          <a:p>
            <a:pPr algn="l">
              <a:lnSpc>
                <a:spcPts val="2519"/>
              </a:lnSpc>
            </a:pPr>
            <a:r>
              <a:rPr lang="en-US" sz="2799" b="1">
                <a:solidFill>
                  <a:srgbClr val="C9F1B7"/>
                </a:solidFill>
                <a:latin typeface="Open Sauce Bold"/>
                <a:ea typeface="Open Sauce Bold"/>
                <a:cs typeface="Open Sauce Bold"/>
                <a:sym typeface="Open Sauce Bold"/>
              </a:rPr>
              <a:t>South</a:t>
            </a:r>
          </a:p>
        </p:txBody>
      </p:sp>
      <p:sp>
        <p:nvSpPr>
          <p:cNvPr id="20" name="TextBox 20"/>
          <p:cNvSpPr txBox="1"/>
          <p:nvPr/>
        </p:nvSpPr>
        <p:spPr>
          <a:xfrm>
            <a:off x="12844463" y="7590451"/>
            <a:ext cx="4414837" cy="354299"/>
          </a:xfrm>
          <a:prstGeom prst="rect">
            <a:avLst/>
          </a:prstGeom>
        </p:spPr>
        <p:txBody>
          <a:bodyPr lIns="0" tIns="0" rIns="0" bIns="0" rtlCol="0" anchor="t">
            <a:spAutoFit/>
          </a:bodyPr>
          <a:lstStyle/>
          <a:p>
            <a:pPr algn="l">
              <a:lnSpc>
                <a:spcPts val="2519"/>
              </a:lnSpc>
            </a:pPr>
            <a:r>
              <a:rPr lang="en-US" sz="2799" b="1">
                <a:solidFill>
                  <a:srgbClr val="C9F1B7"/>
                </a:solidFill>
                <a:latin typeface="Open Sauce Bold"/>
                <a:ea typeface="Open Sauce Bold"/>
                <a:cs typeface="Open Sauce Bold"/>
                <a:sym typeface="Open Sauce Bold"/>
              </a:rPr>
              <a:t>East</a:t>
            </a:r>
          </a:p>
        </p:txBody>
      </p:sp>
      <p:pic>
        <p:nvPicPr>
          <p:cNvPr id="21" name="Picture 21"/>
          <p:cNvPicPr>
            <a:picLocks noChangeAspect="1"/>
          </p:cNvPicPr>
          <p:nvPr/>
        </p:nvPicPr>
        <p:blipFill>
          <a:blip r:embed="rId3"/>
          <a:stretch>
            <a:fillRect/>
          </a:stretch>
        </p:blipFill>
        <p:spPr>
          <a:xfrm>
            <a:off x="7455698" y="1738793"/>
            <a:ext cx="3114624" cy="1816864"/>
          </a:xfrm>
          <a:prstGeom prst="rect">
            <a:avLst/>
          </a:prstGeom>
        </p:spPr>
      </p:pic>
      <p:pic>
        <p:nvPicPr>
          <p:cNvPr id="22" name="Picture 22"/>
          <p:cNvPicPr>
            <a:picLocks noChangeAspect="1"/>
          </p:cNvPicPr>
          <p:nvPr/>
        </p:nvPicPr>
        <p:blipFill>
          <a:blip r:embed="rId4"/>
          <a:stretch>
            <a:fillRect/>
          </a:stretch>
        </p:blipFill>
        <p:spPr>
          <a:xfrm>
            <a:off x="7455698" y="5490214"/>
            <a:ext cx="3114624" cy="1816864"/>
          </a:xfrm>
          <a:prstGeom prst="rect">
            <a:avLst/>
          </a:prstGeom>
        </p:spPr>
      </p:pic>
      <p:pic>
        <p:nvPicPr>
          <p:cNvPr id="23" name="Picture 23"/>
          <p:cNvPicPr>
            <a:picLocks noChangeAspect="1"/>
          </p:cNvPicPr>
          <p:nvPr/>
        </p:nvPicPr>
        <p:blipFill>
          <a:blip r:embed="rId5"/>
          <a:stretch>
            <a:fillRect/>
          </a:stretch>
        </p:blipFill>
        <p:spPr>
          <a:xfrm>
            <a:off x="12584911" y="1738793"/>
            <a:ext cx="3114624" cy="1816864"/>
          </a:xfrm>
          <a:prstGeom prst="rect">
            <a:avLst/>
          </a:prstGeom>
        </p:spPr>
      </p:pic>
      <p:pic>
        <p:nvPicPr>
          <p:cNvPr id="24" name="Picture 24"/>
          <p:cNvPicPr>
            <a:picLocks noChangeAspect="1"/>
          </p:cNvPicPr>
          <p:nvPr/>
        </p:nvPicPr>
        <p:blipFill>
          <a:blip r:embed="rId6"/>
          <a:stretch>
            <a:fillRect/>
          </a:stretch>
        </p:blipFill>
        <p:spPr>
          <a:xfrm>
            <a:off x="12584911" y="5490214"/>
            <a:ext cx="3114624" cy="1816864"/>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9F1B7"/>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006384" y="1051016"/>
            <a:ext cx="1093470" cy="1048839"/>
            <a:chOff x="0" y="0"/>
            <a:chExt cx="622300" cy="596900"/>
          </a:xfrm>
        </p:grpSpPr>
        <p:sp>
          <p:nvSpPr>
            <p:cNvPr id="3" name="Freeform 3"/>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FFFFFF">
                    <a:alpha val="100000"/>
                  </a:srgbClr>
                </a:gs>
                <a:gs pos="100000">
                  <a:srgbClr val="FFFFFF">
                    <a:alpha val="0"/>
                  </a:srgbClr>
                </a:gs>
              </a:gsLst>
              <a:lin ang="0"/>
            </a:gradFill>
          </p:spPr>
          <p:txBody>
            <a:bodyPr/>
            <a:lstStyle/>
            <a:p>
              <a:endParaRPr lang="en-US"/>
            </a:p>
          </p:txBody>
        </p:sp>
        <p:sp>
          <p:nvSpPr>
            <p:cNvPr id="4" name="TextBox 4"/>
            <p:cNvSpPr txBox="1"/>
            <p:nvPr/>
          </p:nvSpPr>
          <p:spPr>
            <a:xfrm>
              <a:off x="0" y="155575"/>
              <a:ext cx="622300" cy="314325"/>
            </a:xfrm>
            <a:prstGeom prst="rect">
              <a:avLst/>
            </a:prstGeom>
          </p:spPr>
          <p:txBody>
            <a:bodyPr lIns="50800" tIns="50800" rIns="50800" bIns="50800" rtlCol="0" anchor="ctr"/>
            <a:lstStyle/>
            <a:p>
              <a:pPr algn="ctr">
                <a:lnSpc>
                  <a:spcPts val="1890"/>
                </a:lnSpc>
              </a:pPr>
              <a:endParaRPr/>
            </a:p>
          </p:txBody>
        </p:sp>
      </p:grpSp>
      <p:sp>
        <p:nvSpPr>
          <p:cNvPr id="5" name="TextBox 5"/>
          <p:cNvSpPr txBox="1"/>
          <p:nvPr/>
        </p:nvSpPr>
        <p:spPr>
          <a:xfrm>
            <a:off x="2409349" y="1171575"/>
            <a:ext cx="14849951" cy="954446"/>
          </a:xfrm>
          <a:prstGeom prst="rect">
            <a:avLst/>
          </a:prstGeom>
        </p:spPr>
        <p:txBody>
          <a:bodyPr lIns="0" tIns="0" rIns="0" bIns="0" rtlCol="0" anchor="t">
            <a:spAutoFit/>
          </a:bodyPr>
          <a:lstStyle/>
          <a:p>
            <a:pPr algn="l">
              <a:lnSpc>
                <a:spcPts val="7200"/>
              </a:lnSpc>
            </a:pPr>
            <a:r>
              <a:rPr lang="en-US" sz="7200" b="1">
                <a:solidFill>
                  <a:srgbClr val="1B322A"/>
                </a:solidFill>
                <a:latin typeface="Open Sauce Bold"/>
                <a:ea typeface="Open Sauce Bold"/>
                <a:cs typeface="Open Sauce Bold"/>
                <a:sym typeface="Open Sauce Bold"/>
              </a:rPr>
              <a:t>Top Product Performance</a:t>
            </a:r>
          </a:p>
        </p:txBody>
      </p:sp>
      <p:sp>
        <p:nvSpPr>
          <p:cNvPr id="6" name="TextBox 6"/>
          <p:cNvSpPr txBox="1"/>
          <p:nvPr/>
        </p:nvSpPr>
        <p:spPr>
          <a:xfrm>
            <a:off x="13782900" y="7917986"/>
            <a:ext cx="3521869" cy="737235"/>
          </a:xfrm>
          <a:prstGeom prst="rect">
            <a:avLst/>
          </a:prstGeom>
        </p:spPr>
        <p:txBody>
          <a:bodyPr lIns="0" tIns="0" rIns="0" bIns="0" rtlCol="0" anchor="t">
            <a:spAutoFit/>
          </a:bodyPr>
          <a:lstStyle/>
          <a:p>
            <a:pPr algn="l">
              <a:lnSpc>
                <a:spcPts val="2940"/>
              </a:lnSpc>
            </a:pPr>
            <a:r>
              <a:rPr lang="en-US" sz="2100">
                <a:solidFill>
                  <a:srgbClr val="1B322A"/>
                </a:solidFill>
                <a:latin typeface="TT Interphases"/>
                <a:ea typeface="TT Interphases"/>
                <a:cs typeface="TT Interphases"/>
                <a:sym typeface="TT Interphases"/>
              </a:rPr>
              <a:t>Rapid growth in mid-market segment.</a:t>
            </a:r>
          </a:p>
        </p:txBody>
      </p:sp>
      <p:sp>
        <p:nvSpPr>
          <p:cNvPr id="7" name="TextBox 7"/>
          <p:cNvSpPr txBox="1"/>
          <p:nvPr/>
        </p:nvSpPr>
        <p:spPr>
          <a:xfrm>
            <a:off x="7405800" y="7917986"/>
            <a:ext cx="3521869" cy="737235"/>
          </a:xfrm>
          <a:prstGeom prst="rect">
            <a:avLst/>
          </a:prstGeom>
        </p:spPr>
        <p:txBody>
          <a:bodyPr lIns="0" tIns="0" rIns="0" bIns="0" rtlCol="0" anchor="t">
            <a:spAutoFit/>
          </a:bodyPr>
          <a:lstStyle/>
          <a:p>
            <a:pPr algn="l">
              <a:lnSpc>
                <a:spcPts val="2940"/>
              </a:lnSpc>
            </a:pPr>
            <a:r>
              <a:rPr lang="en-US" sz="2100">
                <a:solidFill>
                  <a:srgbClr val="1B322A"/>
                </a:solidFill>
                <a:latin typeface="TT Interphases"/>
                <a:ea typeface="TT Interphases"/>
                <a:cs typeface="TT Interphases"/>
                <a:sym typeface="TT Interphases"/>
              </a:rPr>
              <a:t>Strong performer after recent updates.</a:t>
            </a:r>
          </a:p>
        </p:txBody>
      </p:sp>
      <p:sp>
        <p:nvSpPr>
          <p:cNvPr id="8" name="TextBox 8"/>
          <p:cNvSpPr txBox="1"/>
          <p:nvPr/>
        </p:nvSpPr>
        <p:spPr>
          <a:xfrm>
            <a:off x="1028700" y="7917986"/>
            <a:ext cx="3521869" cy="737235"/>
          </a:xfrm>
          <a:prstGeom prst="rect">
            <a:avLst/>
          </a:prstGeom>
        </p:spPr>
        <p:txBody>
          <a:bodyPr lIns="0" tIns="0" rIns="0" bIns="0" rtlCol="0" anchor="t">
            <a:spAutoFit/>
          </a:bodyPr>
          <a:lstStyle/>
          <a:p>
            <a:pPr algn="l">
              <a:lnSpc>
                <a:spcPts val="2940"/>
              </a:lnSpc>
            </a:pPr>
            <a:r>
              <a:rPr lang="en-US" sz="2100">
                <a:solidFill>
                  <a:srgbClr val="1B322A"/>
                </a:solidFill>
                <a:latin typeface="TT Interphases"/>
                <a:ea typeface="TT Interphases"/>
                <a:cs typeface="TT Interphases"/>
                <a:sym typeface="TT Interphases"/>
              </a:rPr>
              <a:t>Best-selling item, especially in enterprise sector.</a:t>
            </a:r>
          </a:p>
        </p:txBody>
      </p:sp>
      <p:sp>
        <p:nvSpPr>
          <p:cNvPr id="9" name="AutoShape 9"/>
          <p:cNvSpPr/>
          <p:nvPr/>
        </p:nvSpPr>
        <p:spPr>
          <a:xfrm>
            <a:off x="13782900" y="3998214"/>
            <a:ext cx="3521869" cy="0"/>
          </a:xfrm>
          <a:prstGeom prst="line">
            <a:avLst/>
          </a:prstGeom>
          <a:ln w="9525" cap="flat">
            <a:solidFill>
              <a:srgbClr val="1B322A"/>
            </a:solidFill>
            <a:prstDash val="solid"/>
            <a:headEnd type="none" w="sm" len="sm"/>
            <a:tailEnd type="none" w="sm" len="sm"/>
          </a:ln>
        </p:spPr>
        <p:txBody>
          <a:bodyPr/>
          <a:lstStyle/>
          <a:p>
            <a:endParaRPr lang="en-US"/>
          </a:p>
        </p:txBody>
      </p:sp>
      <p:sp>
        <p:nvSpPr>
          <p:cNvPr id="10" name="AutoShape 10"/>
          <p:cNvSpPr/>
          <p:nvPr/>
        </p:nvSpPr>
        <p:spPr>
          <a:xfrm>
            <a:off x="7405800" y="3998214"/>
            <a:ext cx="3521869" cy="0"/>
          </a:xfrm>
          <a:prstGeom prst="line">
            <a:avLst/>
          </a:prstGeom>
          <a:ln w="9525" cap="flat">
            <a:solidFill>
              <a:srgbClr val="1B322A"/>
            </a:solidFill>
            <a:prstDash val="solid"/>
            <a:headEnd type="none" w="sm" len="sm"/>
            <a:tailEnd type="none" w="sm" len="sm"/>
          </a:ln>
        </p:spPr>
        <p:txBody>
          <a:bodyPr/>
          <a:lstStyle/>
          <a:p>
            <a:endParaRPr lang="en-US"/>
          </a:p>
        </p:txBody>
      </p:sp>
      <p:sp>
        <p:nvSpPr>
          <p:cNvPr id="11" name="AutoShape 11"/>
          <p:cNvSpPr/>
          <p:nvPr/>
        </p:nvSpPr>
        <p:spPr>
          <a:xfrm>
            <a:off x="1028700" y="3998214"/>
            <a:ext cx="3521869" cy="0"/>
          </a:xfrm>
          <a:prstGeom prst="line">
            <a:avLst/>
          </a:prstGeom>
          <a:ln w="9525" cap="flat">
            <a:solidFill>
              <a:srgbClr val="1B322A"/>
            </a:solidFill>
            <a:prstDash val="solid"/>
            <a:headEnd type="none" w="sm" len="sm"/>
            <a:tailEnd type="none" w="sm" len="sm"/>
          </a:ln>
        </p:spPr>
        <p:txBody>
          <a:bodyPr/>
          <a:lstStyle/>
          <a:p>
            <a:endParaRPr lang="en-US"/>
          </a:p>
        </p:txBody>
      </p:sp>
      <p:sp>
        <p:nvSpPr>
          <p:cNvPr id="12" name="AutoShape 12"/>
          <p:cNvSpPr/>
          <p:nvPr/>
        </p:nvSpPr>
        <p:spPr>
          <a:xfrm>
            <a:off x="13782900" y="9189631"/>
            <a:ext cx="3521869" cy="0"/>
          </a:xfrm>
          <a:prstGeom prst="line">
            <a:avLst/>
          </a:prstGeom>
          <a:ln w="9525" cap="flat">
            <a:solidFill>
              <a:srgbClr val="1B322A"/>
            </a:solidFill>
            <a:prstDash val="solid"/>
            <a:headEnd type="none" w="sm" len="sm"/>
            <a:tailEnd type="none" w="sm" len="sm"/>
          </a:ln>
        </p:spPr>
        <p:txBody>
          <a:bodyPr/>
          <a:lstStyle/>
          <a:p>
            <a:endParaRPr lang="en-US"/>
          </a:p>
        </p:txBody>
      </p:sp>
      <p:sp>
        <p:nvSpPr>
          <p:cNvPr id="13" name="AutoShape 13"/>
          <p:cNvSpPr/>
          <p:nvPr/>
        </p:nvSpPr>
        <p:spPr>
          <a:xfrm>
            <a:off x="7405800" y="9253538"/>
            <a:ext cx="3521869" cy="0"/>
          </a:xfrm>
          <a:prstGeom prst="line">
            <a:avLst/>
          </a:prstGeom>
          <a:ln w="9525" cap="flat">
            <a:solidFill>
              <a:srgbClr val="1B322A"/>
            </a:solidFill>
            <a:prstDash val="solid"/>
            <a:headEnd type="none" w="sm" len="sm"/>
            <a:tailEnd type="none" w="sm" len="sm"/>
          </a:ln>
        </p:spPr>
        <p:txBody>
          <a:bodyPr/>
          <a:lstStyle/>
          <a:p>
            <a:endParaRPr lang="en-US"/>
          </a:p>
        </p:txBody>
      </p:sp>
      <p:sp>
        <p:nvSpPr>
          <p:cNvPr id="14" name="AutoShape 14"/>
          <p:cNvSpPr/>
          <p:nvPr/>
        </p:nvSpPr>
        <p:spPr>
          <a:xfrm>
            <a:off x="1028700" y="9253538"/>
            <a:ext cx="3521869" cy="0"/>
          </a:xfrm>
          <a:prstGeom prst="line">
            <a:avLst/>
          </a:prstGeom>
          <a:ln w="9525" cap="flat">
            <a:solidFill>
              <a:srgbClr val="1B322A"/>
            </a:solidFill>
            <a:prstDash val="solid"/>
            <a:headEnd type="none" w="sm" len="sm"/>
            <a:tailEnd type="none" w="sm" len="sm"/>
          </a:ln>
        </p:spPr>
        <p:txBody>
          <a:bodyPr/>
          <a:lstStyle/>
          <a:p>
            <a:endParaRPr lang="en-US"/>
          </a:p>
        </p:txBody>
      </p:sp>
      <p:sp>
        <p:nvSpPr>
          <p:cNvPr id="15" name="TextBox 15"/>
          <p:cNvSpPr txBox="1"/>
          <p:nvPr/>
        </p:nvSpPr>
        <p:spPr>
          <a:xfrm>
            <a:off x="1028700" y="3269551"/>
            <a:ext cx="7758113" cy="485841"/>
          </a:xfrm>
          <a:prstGeom prst="rect">
            <a:avLst/>
          </a:prstGeom>
        </p:spPr>
        <p:txBody>
          <a:bodyPr lIns="0" tIns="0" rIns="0" bIns="0" rtlCol="0" anchor="t">
            <a:spAutoFit/>
          </a:bodyPr>
          <a:lstStyle/>
          <a:p>
            <a:pPr marL="0" lvl="0" indent="0" algn="l">
              <a:lnSpc>
                <a:spcPts val="3840"/>
              </a:lnSpc>
              <a:spcBef>
                <a:spcPct val="0"/>
              </a:spcBef>
            </a:pPr>
            <a:r>
              <a:rPr lang="en-US" sz="3200" b="1">
                <a:solidFill>
                  <a:srgbClr val="1B322A"/>
                </a:solidFill>
                <a:latin typeface="Open Sauce Bold"/>
                <a:ea typeface="Open Sauce Bold"/>
                <a:cs typeface="Open Sauce Bold"/>
                <a:sym typeface="Open Sauce Bold"/>
              </a:rPr>
              <a:t>Product </a:t>
            </a:r>
            <a:r>
              <a:rPr lang="en-US" sz="3200" b="1" u="none" strike="noStrike">
                <a:solidFill>
                  <a:srgbClr val="1B322A"/>
                </a:solidFill>
                <a:latin typeface="Open Sauce Bold"/>
                <a:ea typeface="Open Sauce Bold"/>
                <a:cs typeface="Open Sauce Bold"/>
                <a:sym typeface="Open Sauce Bold"/>
              </a:rPr>
              <a:t>Revenue Distribution</a:t>
            </a:r>
          </a:p>
        </p:txBody>
      </p:sp>
      <p:sp>
        <p:nvSpPr>
          <p:cNvPr id="16" name="TextBox 16"/>
          <p:cNvSpPr txBox="1"/>
          <p:nvPr/>
        </p:nvSpPr>
        <p:spPr>
          <a:xfrm>
            <a:off x="13782900" y="7017694"/>
            <a:ext cx="3521869" cy="354299"/>
          </a:xfrm>
          <a:prstGeom prst="rect">
            <a:avLst/>
          </a:prstGeom>
        </p:spPr>
        <p:txBody>
          <a:bodyPr lIns="0" tIns="0" rIns="0" bIns="0" rtlCol="0" anchor="t">
            <a:spAutoFit/>
          </a:bodyPr>
          <a:lstStyle/>
          <a:p>
            <a:pPr algn="l">
              <a:lnSpc>
                <a:spcPts val="2519"/>
              </a:lnSpc>
            </a:pPr>
            <a:r>
              <a:rPr lang="en-US" sz="2799" b="1">
                <a:solidFill>
                  <a:srgbClr val="1B322A"/>
                </a:solidFill>
                <a:latin typeface="Open Sauce Bold"/>
                <a:ea typeface="Open Sauce Bold"/>
                <a:cs typeface="Open Sauce Bold"/>
                <a:sym typeface="Open Sauce Bold"/>
              </a:rPr>
              <a:t>Storage</a:t>
            </a:r>
          </a:p>
        </p:txBody>
      </p:sp>
      <p:sp>
        <p:nvSpPr>
          <p:cNvPr id="17" name="TextBox 17"/>
          <p:cNvSpPr txBox="1"/>
          <p:nvPr/>
        </p:nvSpPr>
        <p:spPr>
          <a:xfrm>
            <a:off x="7405800" y="7017694"/>
            <a:ext cx="3521869" cy="354299"/>
          </a:xfrm>
          <a:prstGeom prst="rect">
            <a:avLst/>
          </a:prstGeom>
        </p:spPr>
        <p:txBody>
          <a:bodyPr lIns="0" tIns="0" rIns="0" bIns="0" rtlCol="0" anchor="t">
            <a:spAutoFit/>
          </a:bodyPr>
          <a:lstStyle/>
          <a:p>
            <a:pPr algn="l">
              <a:lnSpc>
                <a:spcPts val="2519"/>
              </a:lnSpc>
            </a:pPr>
            <a:r>
              <a:rPr lang="en-US" sz="2799" b="1">
                <a:solidFill>
                  <a:srgbClr val="1B322A"/>
                </a:solidFill>
                <a:latin typeface="Open Sauce Bold"/>
                <a:ea typeface="Open Sauce Bold"/>
                <a:cs typeface="Open Sauce Bold"/>
                <a:sym typeface="Open Sauce Bold"/>
              </a:rPr>
              <a:t>Chairs</a:t>
            </a:r>
          </a:p>
        </p:txBody>
      </p:sp>
      <p:sp>
        <p:nvSpPr>
          <p:cNvPr id="18" name="TextBox 18"/>
          <p:cNvSpPr txBox="1"/>
          <p:nvPr/>
        </p:nvSpPr>
        <p:spPr>
          <a:xfrm>
            <a:off x="1028700" y="7017694"/>
            <a:ext cx="3521869" cy="354299"/>
          </a:xfrm>
          <a:prstGeom prst="rect">
            <a:avLst/>
          </a:prstGeom>
        </p:spPr>
        <p:txBody>
          <a:bodyPr lIns="0" tIns="0" rIns="0" bIns="0" rtlCol="0" anchor="t">
            <a:spAutoFit/>
          </a:bodyPr>
          <a:lstStyle/>
          <a:p>
            <a:pPr algn="l">
              <a:lnSpc>
                <a:spcPts val="2519"/>
              </a:lnSpc>
            </a:pPr>
            <a:r>
              <a:rPr lang="en-US" sz="2799" b="1">
                <a:solidFill>
                  <a:srgbClr val="1B322A"/>
                </a:solidFill>
                <a:latin typeface="Open Sauce Bold"/>
                <a:ea typeface="Open Sauce Bold"/>
                <a:cs typeface="Open Sauce Bold"/>
                <a:sym typeface="Open Sauce Bold"/>
              </a:rPr>
              <a:t>Phones</a:t>
            </a:r>
          </a:p>
        </p:txBody>
      </p:sp>
      <p:pic>
        <p:nvPicPr>
          <p:cNvPr id="19" name="Picture 19"/>
          <p:cNvPicPr>
            <a:picLocks noChangeAspect="1"/>
          </p:cNvPicPr>
          <p:nvPr/>
        </p:nvPicPr>
        <p:blipFill>
          <a:blip r:embed="rId2"/>
          <a:stretch>
            <a:fillRect/>
          </a:stretch>
        </p:blipFill>
        <p:spPr>
          <a:xfrm>
            <a:off x="13430713" y="4244343"/>
            <a:ext cx="4226243" cy="2465308"/>
          </a:xfrm>
          <a:prstGeom prst="rect">
            <a:avLst/>
          </a:prstGeom>
        </p:spPr>
      </p:pic>
      <p:pic>
        <p:nvPicPr>
          <p:cNvPr id="20" name="Picture 20"/>
          <p:cNvPicPr>
            <a:picLocks noChangeAspect="1"/>
          </p:cNvPicPr>
          <p:nvPr/>
        </p:nvPicPr>
        <p:blipFill>
          <a:blip r:embed="rId3"/>
          <a:stretch>
            <a:fillRect/>
          </a:stretch>
        </p:blipFill>
        <p:spPr>
          <a:xfrm>
            <a:off x="7053613" y="4244343"/>
            <a:ext cx="4226243" cy="2465308"/>
          </a:xfrm>
          <a:prstGeom prst="rect">
            <a:avLst/>
          </a:prstGeom>
        </p:spPr>
      </p:pic>
      <p:pic>
        <p:nvPicPr>
          <p:cNvPr id="21" name="Picture 21"/>
          <p:cNvPicPr>
            <a:picLocks noChangeAspect="1"/>
          </p:cNvPicPr>
          <p:nvPr/>
        </p:nvPicPr>
        <p:blipFill>
          <a:blip r:embed="rId4"/>
          <a:stretch>
            <a:fillRect/>
          </a:stretch>
        </p:blipFill>
        <p:spPr>
          <a:xfrm>
            <a:off x="676513" y="4244343"/>
            <a:ext cx="4226243" cy="246530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2450" y="552450"/>
            <a:ext cx="8591550" cy="9182100"/>
            <a:chOff x="0" y="0"/>
            <a:chExt cx="6431302" cy="6873365"/>
          </a:xfrm>
        </p:grpSpPr>
        <p:sp>
          <p:nvSpPr>
            <p:cNvPr id="3" name="Freeform 3"/>
            <p:cNvSpPr/>
            <p:nvPr/>
          </p:nvSpPr>
          <p:spPr>
            <a:xfrm>
              <a:off x="0" y="0"/>
              <a:ext cx="6431302" cy="6873365"/>
            </a:xfrm>
            <a:custGeom>
              <a:avLst/>
              <a:gdLst/>
              <a:ahLst/>
              <a:cxnLst/>
              <a:rect l="l" t="t" r="r" b="b"/>
              <a:pathLst>
                <a:path w="6431302" h="6873365">
                  <a:moveTo>
                    <a:pt x="18022" y="0"/>
                  </a:moveTo>
                  <a:lnTo>
                    <a:pt x="6413280" y="0"/>
                  </a:lnTo>
                  <a:cubicBezTo>
                    <a:pt x="6418060" y="0"/>
                    <a:pt x="6422644" y="1899"/>
                    <a:pt x="6426024" y="5279"/>
                  </a:cubicBezTo>
                  <a:cubicBezTo>
                    <a:pt x="6429404" y="8658"/>
                    <a:pt x="6431302" y="13242"/>
                    <a:pt x="6431302" y="18022"/>
                  </a:cubicBezTo>
                  <a:lnTo>
                    <a:pt x="6431302" y="6855343"/>
                  </a:lnTo>
                  <a:cubicBezTo>
                    <a:pt x="6431302" y="6865296"/>
                    <a:pt x="6423234" y="6873365"/>
                    <a:pt x="6413280" y="6873365"/>
                  </a:cubicBezTo>
                  <a:lnTo>
                    <a:pt x="18022" y="6873365"/>
                  </a:lnTo>
                  <a:cubicBezTo>
                    <a:pt x="8069" y="6873365"/>
                    <a:pt x="0" y="6865296"/>
                    <a:pt x="0" y="6855343"/>
                  </a:cubicBezTo>
                  <a:lnTo>
                    <a:pt x="0" y="18022"/>
                  </a:lnTo>
                  <a:cubicBezTo>
                    <a:pt x="0" y="8069"/>
                    <a:pt x="8069" y="0"/>
                    <a:pt x="18022" y="0"/>
                  </a:cubicBezTo>
                  <a:close/>
                </a:path>
              </a:pathLst>
            </a:custGeom>
            <a:solidFill>
              <a:srgbClr val="1B322A"/>
            </a:solidFill>
          </p:spPr>
          <p:txBody>
            <a:bodyPr/>
            <a:lstStyle/>
            <a:p>
              <a:endParaRPr lang="en-US"/>
            </a:p>
          </p:txBody>
        </p:sp>
        <p:sp>
          <p:nvSpPr>
            <p:cNvPr id="4" name="TextBox 4"/>
            <p:cNvSpPr txBox="1"/>
            <p:nvPr/>
          </p:nvSpPr>
          <p:spPr>
            <a:xfrm>
              <a:off x="0" y="19050"/>
              <a:ext cx="6431302" cy="6854315"/>
            </a:xfrm>
            <a:prstGeom prst="rect">
              <a:avLst/>
            </a:prstGeom>
          </p:spPr>
          <p:txBody>
            <a:bodyPr lIns="0" tIns="0" rIns="0" bIns="0" rtlCol="0" anchor="ctr"/>
            <a:lstStyle/>
            <a:p>
              <a:pPr algn="ctr">
                <a:lnSpc>
                  <a:spcPts val="2519"/>
                </a:lnSpc>
              </a:pPr>
              <a:endParaRPr/>
            </a:p>
          </p:txBody>
        </p:sp>
      </p:grpSp>
      <p:grpSp>
        <p:nvGrpSpPr>
          <p:cNvPr id="5" name="Group 5"/>
          <p:cNvGrpSpPr/>
          <p:nvPr/>
        </p:nvGrpSpPr>
        <p:grpSpPr>
          <a:xfrm rot="5400000">
            <a:off x="1006384" y="1051016"/>
            <a:ext cx="1093470" cy="1048839"/>
            <a:chOff x="0" y="0"/>
            <a:chExt cx="622300" cy="596900"/>
          </a:xfrm>
        </p:grpSpPr>
        <p:sp>
          <p:nvSpPr>
            <p:cNvPr id="6" name="Freeform 6"/>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C9F1B7">
                    <a:alpha val="100000"/>
                  </a:srgbClr>
                </a:gs>
                <a:gs pos="100000">
                  <a:srgbClr val="C9F1B8">
                    <a:alpha val="0"/>
                  </a:srgbClr>
                </a:gs>
              </a:gsLst>
              <a:lin ang="0"/>
            </a:gradFill>
          </p:spPr>
          <p:txBody>
            <a:bodyPr/>
            <a:lstStyle/>
            <a:p>
              <a:endParaRPr lang="en-US"/>
            </a:p>
          </p:txBody>
        </p:sp>
        <p:sp>
          <p:nvSpPr>
            <p:cNvPr id="7" name="TextBox 7"/>
            <p:cNvSpPr txBox="1"/>
            <p:nvPr/>
          </p:nvSpPr>
          <p:spPr>
            <a:xfrm>
              <a:off x="0" y="155575"/>
              <a:ext cx="622300" cy="314325"/>
            </a:xfrm>
            <a:prstGeom prst="rect">
              <a:avLst/>
            </a:prstGeom>
          </p:spPr>
          <p:txBody>
            <a:bodyPr lIns="50800" tIns="50800" rIns="50800" bIns="50800" rtlCol="0" anchor="ctr"/>
            <a:lstStyle/>
            <a:p>
              <a:pPr algn="ctr">
                <a:lnSpc>
                  <a:spcPts val="1890"/>
                </a:lnSpc>
              </a:pPr>
              <a:endParaRPr/>
            </a:p>
          </p:txBody>
        </p:sp>
      </p:grpSp>
      <p:sp>
        <p:nvSpPr>
          <p:cNvPr id="8" name="TextBox 8"/>
          <p:cNvSpPr txBox="1"/>
          <p:nvPr/>
        </p:nvSpPr>
        <p:spPr>
          <a:xfrm>
            <a:off x="2409349" y="1162050"/>
            <a:ext cx="6258401" cy="1753870"/>
          </a:xfrm>
          <a:prstGeom prst="rect">
            <a:avLst/>
          </a:prstGeom>
        </p:spPr>
        <p:txBody>
          <a:bodyPr lIns="0" tIns="0" rIns="0" bIns="0" rtlCol="0" anchor="t">
            <a:spAutoFit/>
          </a:bodyPr>
          <a:lstStyle/>
          <a:p>
            <a:pPr algn="l">
              <a:lnSpc>
                <a:spcPts val="6800"/>
              </a:lnSpc>
            </a:pPr>
            <a:r>
              <a:rPr lang="en-US" sz="6800" b="1">
                <a:solidFill>
                  <a:srgbClr val="FFFFFF"/>
                </a:solidFill>
                <a:latin typeface="Open Sauce Bold"/>
                <a:ea typeface="Open Sauce Bold"/>
                <a:cs typeface="Open Sauce Bold"/>
                <a:sym typeface="Open Sauce Bold"/>
              </a:rPr>
              <a:t>Sales </a:t>
            </a:r>
            <a:r>
              <a:rPr lang="en-US" sz="6800" b="1">
                <a:solidFill>
                  <a:srgbClr val="C9F1B7"/>
                </a:solidFill>
                <a:latin typeface="Open Sauce Bold"/>
                <a:ea typeface="Open Sauce Bold"/>
                <a:cs typeface="Open Sauce Bold"/>
                <a:sym typeface="Open Sauce Bold"/>
              </a:rPr>
              <a:t>By Category</a:t>
            </a:r>
          </a:p>
        </p:txBody>
      </p:sp>
      <p:pic>
        <p:nvPicPr>
          <p:cNvPr id="9" name="Picture 9"/>
          <p:cNvPicPr>
            <a:picLocks noChangeAspect="1"/>
          </p:cNvPicPr>
          <p:nvPr/>
        </p:nvPicPr>
        <p:blipFill>
          <a:blip r:embed="rId2"/>
          <a:stretch>
            <a:fillRect/>
          </a:stretch>
        </p:blipFill>
        <p:spPr>
          <a:xfrm>
            <a:off x="511342" y="3130632"/>
            <a:ext cx="8897899" cy="6897801"/>
          </a:xfrm>
          <a:prstGeom prst="rect">
            <a:avLst/>
          </a:prstGeom>
        </p:spPr>
      </p:pic>
      <p:sp>
        <p:nvSpPr>
          <p:cNvPr id="10" name="AutoShape 10"/>
          <p:cNvSpPr/>
          <p:nvPr/>
        </p:nvSpPr>
        <p:spPr>
          <a:xfrm>
            <a:off x="10096500" y="9253538"/>
            <a:ext cx="7162800" cy="0"/>
          </a:xfrm>
          <a:prstGeom prst="line">
            <a:avLst/>
          </a:prstGeom>
          <a:ln w="9525" cap="flat">
            <a:solidFill>
              <a:srgbClr val="1B322A"/>
            </a:solidFill>
            <a:prstDash val="solid"/>
            <a:headEnd type="none" w="sm" len="sm"/>
            <a:tailEnd type="none" w="sm" len="sm"/>
          </a:ln>
        </p:spPr>
        <p:txBody>
          <a:bodyPr/>
          <a:lstStyle/>
          <a:p>
            <a:endParaRPr lang="en-US"/>
          </a:p>
        </p:txBody>
      </p:sp>
      <p:grpSp>
        <p:nvGrpSpPr>
          <p:cNvPr id="11" name="Group 11"/>
          <p:cNvGrpSpPr/>
          <p:nvPr/>
        </p:nvGrpSpPr>
        <p:grpSpPr>
          <a:xfrm>
            <a:off x="10096500" y="1998345"/>
            <a:ext cx="2906520" cy="1433344"/>
            <a:chOff x="0" y="0"/>
            <a:chExt cx="2175709" cy="1072946"/>
          </a:xfrm>
        </p:grpSpPr>
        <p:sp>
          <p:nvSpPr>
            <p:cNvPr id="12" name="Freeform 12"/>
            <p:cNvSpPr/>
            <p:nvPr/>
          </p:nvSpPr>
          <p:spPr>
            <a:xfrm>
              <a:off x="0" y="0"/>
              <a:ext cx="2175709" cy="1072946"/>
            </a:xfrm>
            <a:custGeom>
              <a:avLst/>
              <a:gdLst/>
              <a:ahLst/>
              <a:cxnLst/>
              <a:rect l="l" t="t" r="r" b="b"/>
              <a:pathLst>
                <a:path w="2175709" h="1072946">
                  <a:moveTo>
                    <a:pt x="53273" y="0"/>
                  </a:moveTo>
                  <a:lnTo>
                    <a:pt x="2122436" y="0"/>
                  </a:lnTo>
                  <a:cubicBezTo>
                    <a:pt x="2151858" y="0"/>
                    <a:pt x="2175709" y="23851"/>
                    <a:pt x="2175709" y="53273"/>
                  </a:cubicBezTo>
                  <a:lnTo>
                    <a:pt x="2175709" y="1019673"/>
                  </a:lnTo>
                  <a:cubicBezTo>
                    <a:pt x="2175709" y="1049095"/>
                    <a:pt x="2151858" y="1072946"/>
                    <a:pt x="2122436" y="1072946"/>
                  </a:cubicBezTo>
                  <a:lnTo>
                    <a:pt x="53273" y="1072946"/>
                  </a:lnTo>
                  <a:cubicBezTo>
                    <a:pt x="23851" y="1072946"/>
                    <a:pt x="0" y="1049095"/>
                    <a:pt x="0" y="1019673"/>
                  </a:cubicBezTo>
                  <a:lnTo>
                    <a:pt x="0" y="53273"/>
                  </a:lnTo>
                  <a:cubicBezTo>
                    <a:pt x="0" y="23851"/>
                    <a:pt x="23851" y="0"/>
                    <a:pt x="53273" y="0"/>
                  </a:cubicBezTo>
                  <a:close/>
                </a:path>
              </a:pathLst>
            </a:custGeom>
            <a:solidFill>
              <a:srgbClr val="C9F1B7"/>
            </a:solidFill>
          </p:spPr>
          <p:txBody>
            <a:bodyPr/>
            <a:lstStyle/>
            <a:p>
              <a:endParaRPr lang="en-US"/>
            </a:p>
          </p:txBody>
        </p:sp>
        <p:sp>
          <p:nvSpPr>
            <p:cNvPr id="13" name="TextBox 13"/>
            <p:cNvSpPr txBox="1"/>
            <p:nvPr/>
          </p:nvSpPr>
          <p:spPr>
            <a:xfrm>
              <a:off x="0" y="19050"/>
              <a:ext cx="2175709" cy="1053896"/>
            </a:xfrm>
            <a:prstGeom prst="rect">
              <a:avLst/>
            </a:prstGeom>
          </p:spPr>
          <p:txBody>
            <a:bodyPr lIns="0" tIns="0" rIns="0" bIns="0" rtlCol="0" anchor="ctr"/>
            <a:lstStyle/>
            <a:p>
              <a:pPr algn="ctr">
                <a:lnSpc>
                  <a:spcPts val="2519"/>
                </a:lnSpc>
              </a:pPr>
              <a:endParaRPr/>
            </a:p>
          </p:txBody>
        </p:sp>
      </p:grpSp>
      <p:grpSp>
        <p:nvGrpSpPr>
          <p:cNvPr id="14" name="Group 14"/>
          <p:cNvGrpSpPr/>
          <p:nvPr/>
        </p:nvGrpSpPr>
        <p:grpSpPr>
          <a:xfrm>
            <a:off x="10096500" y="4422140"/>
            <a:ext cx="2906520" cy="1433344"/>
            <a:chOff x="0" y="0"/>
            <a:chExt cx="2175709" cy="1072946"/>
          </a:xfrm>
        </p:grpSpPr>
        <p:sp>
          <p:nvSpPr>
            <p:cNvPr id="15" name="Freeform 15"/>
            <p:cNvSpPr/>
            <p:nvPr/>
          </p:nvSpPr>
          <p:spPr>
            <a:xfrm>
              <a:off x="0" y="0"/>
              <a:ext cx="2175709" cy="1072946"/>
            </a:xfrm>
            <a:custGeom>
              <a:avLst/>
              <a:gdLst/>
              <a:ahLst/>
              <a:cxnLst/>
              <a:rect l="l" t="t" r="r" b="b"/>
              <a:pathLst>
                <a:path w="2175709" h="1072946">
                  <a:moveTo>
                    <a:pt x="53273" y="0"/>
                  </a:moveTo>
                  <a:lnTo>
                    <a:pt x="2122436" y="0"/>
                  </a:lnTo>
                  <a:cubicBezTo>
                    <a:pt x="2151858" y="0"/>
                    <a:pt x="2175709" y="23851"/>
                    <a:pt x="2175709" y="53273"/>
                  </a:cubicBezTo>
                  <a:lnTo>
                    <a:pt x="2175709" y="1019673"/>
                  </a:lnTo>
                  <a:cubicBezTo>
                    <a:pt x="2175709" y="1049095"/>
                    <a:pt x="2151858" y="1072946"/>
                    <a:pt x="2122436" y="1072946"/>
                  </a:cubicBezTo>
                  <a:lnTo>
                    <a:pt x="53273" y="1072946"/>
                  </a:lnTo>
                  <a:cubicBezTo>
                    <a:pt x="23851" y="1072946"/>
                    <a:pt x="0" y="1049095"/>
                    <a:pt x="0" y="1019673"/>
                  </a:cubicBezTo>
                  <a:lnTo>
                    <a:pt x="0" y="53273"/>
                  </a:lnTo>
                  <a:cubicBezTo>
                    <a:pt x="0" y="23851"/>
                    <a:pt x="23851" y="0"/>
                    <a:pt x="53273" y="0"/>
                  </a:cubicBezTo>
                  <a:close/>
                </a:path>
              </a:pathLst>
            </a:custGeom>
            <a:solidFill>
              <a:srgbClr val="C9F1B7"/>
            </a:solidFill>
          </p:spPr>
          <p:txBody>
            <a:bodyPr/>
            <a:lstStyle/>
            <a:p>
              <a:endParaRPr lang="en-US"/>
            </a:p>
          </p:txBody>
        </p:sp>
        <p:sp>
          <p:nvSpPr>
            <p:cNvPr id="16" name="TextBox 16"/>
            <p:cNvSpPr txBox="1"/>
            <p:nvPr/>
          </p:nvSpPr>
          <p:spPr>
            <a:xfrm>
              <a:off x="0" y="19050"/>
              <a:ext cx="2175709" cy="1053896"/>
            </a:xfrm>
            <a:prstGeom prst="rect">
              <a:avLst/>
            </a:prstGeom>
          </p:spPr>
          <p:txBody>
            <a:bodyPr lIns="0" tIns="0" rIns="0" bIns="0" rtlCol="0" anchor="ctr"/>
            <a:lstStyle/>
            <a:p>
              <a:pPr algn="ctr">
                <a:lnSpc>
                  <a:spcPts val="2519"/>
                </a:lnSpc>
              </a:pPr>
              <a:endParaRPr/>
            </a:p>
          </p:txBody>
        </p:sp>
      </p:grpSp>
      <p:grpSp>
        <p:nvGrpSpPr>
          <p:cNvPr id="17" name="Group 17"/>
          <p:cNvGrpSpPr/>
          <p:nvPr/>
        </p:nvGrpSpPr>
        <p:grpSpPr>
          <a:xfrm>
            <a:off x="10096500" y="7068820"/>
            <a:ext cx="2906520" cy="1433344"/>
            <a:chOff x="0" y="0"/>
            <a:chExt cx="2175709" cy="1072946"/>
          </a:xfrm>
        </p:grpSpPr>
        <p:sp>
          <p:nvSpPr>
            <p:cNvPr id="18" name="Freeform 18"/>
            <p:cNvSpPr/>
            <p:nvPr/>
          </p:nvSpPr>
          <p:spPr>
            <a:xfrm>
              <a:off x="0" y="0"/>
              <a:ext cx="2175709" cy="1072946"/>
            </a:xfrm>
            <a:custGeom>
              <a:avLst/>
              <a:gdLst/>
              <a:ahLst/>
              <a:cxnLst/>
              <a:rect l="l" t="t" r="r" b="b"/>
              <a:pathLst>
                <a:path w="2175709" h="1072946">
                  <a:moveTo>
                    <a:pt x="53273" y="0"/>
                  </a:moveTo>
                  <a:lnTo>
                    <a:pt x="2122436" y="0"/>
                  </a:lnTo>
                  <a:cubicBezTo>
                    <a:pt x="2151858" y="0"/>
                    <a:pt x="2175709" y="23851"/>
                    <a:pt x="2175709" y="53273"/>
                  </a:cubicBezTo>
                  <a:lnTo>
                    <a:pt x="2175709" y="1019673"/>
                  </a:lnTo>
                  <a:cubicBezTo>
                    <a:pt x="2175709" y="1049095"/>
                    <a:pt x="2151858" y="1072946"/>
                    <a:pt x="2122436" y="1072946"/>
                  </a:cubicBezTo>
                  <a:lnTo>
                    <a:pt x="53273" y="1072946"/>
                  </a:lnTo>
                  <a:cubicBezTo>
                    <a:pt x="23851" y="1072946"/>
                    <a:pt x="0" y="1049095"/>
                    <a:pt x="0" y="1019673"/>
                  </a:cubicBezTo>
                  <a:lnTo>
                    <a:pt x="0" y="53273"/>
                  </a:lnTo>
                  <a:cubicBezTo>
                    <a:pt x="0" y="23851"/>
                    <a:pt x="23851" y="0"/>
                    <a:pt x="53273" y="0"/>
                  </a:cubicBezTo>
                  <a:close/>
                </a:path>
              </a:pathLst>
            </a:custGeom>
            <a:solidFill>
              <a:srgbClr val="C9F1B7"/>
            </a:solidFill>
          </p:spPr>
          <p:txBody>
            <a:bodyPr/>
            <a:lstStyle/>
            <a:p>
              <a:endParaRPr lang="en-US"/>
            </a:p>
          </p:txBody>
        </p:sp>
        <p:sp>
          <p:nvSpPr>
            <p:cNvPr id="19" name="TextBox 19"/>
            <p:cNvSpPr txBox="1"/>
            <p:nvPr/>
          </p:nvSpPr>
          <p:spPr>
            <a:xfrm>
              <a:off x="0" y="19050"/>
              <a:ext cx="2175709" cy="1053896"/>
            </a:xfrm>
            <a:prstGeom prst="rect">
              <a:avLst/>
            </a:prstGeom>
          </p:spPr>
          <p:txBody>
            <a:bodyPr lIns="0" tIns="0" rIns="0" bIns="0" rtlCol="0" anchor="ctr"/>
            <a:lstStyle/>
            <a:p>
              <a:pPr algn="ctr">
                <a:lnSpc>
                  <a:spcPts val="2519"/>
                </a:lnSpc>
              </a:pPr>
              <a:endParaRPr/>
            </a:p>
          </p:txBody>
        </p:sp>
      </p:grpSp>
      <p:sp>
        <p:nvSpPr>
          <p:cNvPr id="20" name="AutoShape 20"/>
          <p:cNvSpPr/>
          <p:nvPr/>
        </p:nvSpPr>
        <p:spPr>
          <a:xfrm>
            <a:off x="10096500" y="1755458"/>
            <a:ext cx="7162800" cy="0"/>
          </a:xfrm>
          <a:prstGeom prst="line">
            <a:avLst/>
          </a:prstGeom>
          <a:ln w="9525" cap="flat">
            <a:solidFill>
              <a:srgbClr val="1B322A"/>
            </a:solidFill>
            <a:prstDash val="solid"/>
            <a:headEnd type="none" w="sm" len="sm"/>
            <a:tailEnd type="none" w="sm" len="sm"/>
          </a:ln>
        </p:spPr>
        <p:txBody>
          <a:bodyPr/>
          <a:lstStyle/>
          <a:p>
            <a:endParaRPr lang="en-US"/>
          </a:p>
        </p:txBody>
      </p:sp>
      <p:sp>
        <p:nvSpPr>
          <p:cNvPr id="21" name="TextBox 21"/>
          <p:cNvSpPr txBox="1"/>
          <p:nvPr/>
        </p:nvSpPr>
        <p:spPr>
          <a:xfrm>
            <a:off x="10443065" y="2444507"/>
            <a:ext cx="2213390" cy="636263"/>
          </a:xfrm>
          <a:prstGeom prst="rect">
            <a:avLst/>
          </a:prstGeom>
        </p:spPr>
        <p:txBody>
          <a:bodyPr lIns="0" tIns="0" rIns="0" bIns="0" rtlCol="0" anchor="t">
            <a:spAutoFit/>
          </a:bodyPr>
          <a:lstStyle/>
          <a:p>
            <a:pPr algn="l">
              <a:lnSpc>
                <a:spcPts val="4800"/>
              </a:lnSpc>
            </a:pPr>
            <a:r>
              <a:rPr lang="en-US" sz="4800" b="1" spc="-120">
                <a:solidFill>
                  <a:srgbClr val="1B322A"/>
                </a:solidFill>
                <a:latin typeface="Open Sauce Bold"/>
                <a:ea typeface="Open Sauce Bold"/>
                <a:cs typeface="Open Sauce Bold"/>
                <a:sym typeface="Open Sauce Bold"/>
              </a:rPr>
              <a:t>36%</a:t>
            </a:r>
          </a:p>
        </p:txBody>
      </p:sp>
      <p:sp>
        <p:nvSpPr>
          <p:cNvPr id="22" name="TextBox 22"/>
          <p:cNvSpPr txBox="1"/>
          <p:nvPr/>
        </p:nvSpPr>
        <p:spPr>
          <a:xfrm>
            <a:off x="10443065" y="4868302"/>
            <a:ext cx="2213390" cy="636263"/>
          </a:xfrm>
          <a:prstGeom prst="rect">
            <a:avLst/>
          </a:prstGeom>
        </p:spPr>
        <p:txBody>
          <a:bodyPr lIns="0" tIns="0" rIns="0" bIns="0" rtlCol="0" anchor="t">
            <a:spAutoFit/>
          </a:bodyPr>
          <a:lstStyle/>
          <a:p>
            <a:pPr algn="l">
              <a:lnSpc>
                <a:spcPts val="4800"/>
              </a:lnSpc>
            </a:pPr>
            <a:r>
              <a:rPr lang="en-US" sz="4800" b="1" spc="-120">
                <a:solidFill>
                  <a:srgbClr val="1B322A"/>
                </a:solidFill>
                <a:latin typeface="Open Sauce Bold"/>
                <a:ea typeface="Open Sauce Bold"/>
                <a:cs typeface="Open Sauce Bold"/>
                <a:sym typeface="Open Sauce Bold"/>
              </a:rPr>
              <a:t>32%</a:t>
            </a:r>
          </a:p>
        </p:txBody>
      </p:sp>
      <p:sp>
        <p:nvSpPr>
          <p:cNvPr id="23" name="TextBox 23"/>
          <p:cNvSpPr txBox="1"/>
          <p:nvPr/>
        </p:nvSpPr>
        <p:spPr>
          <a:xfrm>
            <a:off x="10443065" y="7514982"/>
            <a:ext cx="2213390" cy="636263"/>
          </a:xfrm>
          <a:prstGeom prst="rect">
            <a:avLst/>
          </a:prstGeom>
        </p:spPr>
        <p:txBody>
          <a:bodyPr lIns="0" tIns="0" rIns="0" bIns="0" rtlCol="0" anchor="t">
            <a:spAutoFit/>
          </a:bodyPr>
          <a:lstStyle/>
          <a:p>
            <a:pPr algn="l">
              <a:lnSpc>
                <a:spcPts val="4800"/>
              </a:lnSpc>
            </a:pPr>
            <a:r>
              <a:rPr lang="en-US" sz="4800" b="1" spc="-120">
                <a:solidFill>
                  <a:srgbClr val="1B322A"/>
                </a:solidFill>
                <a:latin typeface="Open Sauce Bold"/>
                <a:ea typeface="Open Sauce Bold"/>
                <a:cs typeface="Open Sauce Bold"/>
                <a:sym typeface="Open Sauce Bold"/>
              </a:rPr>
              <a:t>31%</a:t>
            </a:r>
          </a:p>
        </p:txBody>
      </p:sp>
      <p:sp>
        <p:nvSpPr>
          <p:cNvPr id="24" name="AutoShape 24"/>
          <p:cNvSpPr/>
          <p:nvPr/>
        </p:nvSpPr>
        <p:spPr>
          <a:xfrm>
            <a:off x="10096500" y="4179253"/>
            <a:ext cx="7162800" cy="0"/>
          </a:xfrm>
          <a:prstGeom prst="line">
            <a:avLst/>
          </a:prstGeom>
          <a:ln w="9525" cap="flat">
            <a:solidFill>
              <a:srgbClr val="1B322A"/>
            </a:solidFill>
            <a:prstDash val="solid"/>
            <a:headEnd type="none" w="sm" len="sm"/>
            <a:tailEnd type="none" w="sm" len="sm"/>
          </a:ln>
        </p:spPr>
        <p:txBody>
          <a:bodyPr/>
          <a:lstStyle/>
          <a:p>
            <a:endParaRPr lang="en-US"/>
          </a:p>
        </p:txBody>
      </p:sp>
      <p:sp>
        <p:nvSpPr>
          <p:cNvPr id="25" name="AutoShape 25"/>
          <p:cNvSpPr/>
          <p:nvPr/>
        </p:nvSpPr>
        <p:spPr>
          <a:xfrm>
            <a:off x="10096500" y="6825933"/>
            <a:ext cx="7162800" cy="0"/>
          </a:xfrm>
          <a:prstGeom prst="line">
            <a:avLst/>
          </a:prstGeom>
          <a:ln w="9525" cap="flat">
            <a:solidFill>
              <a:srgbClr val="1B322A"/>
            </a:solidFill>
            <a:prstDash val="solid"/>
            <a:headEnd type="none" w="sm" len="sm"/>
            <a:tailEnd type="none" w="sm" len="sm"/>
          </a:ln>
        </p:spPr>
        <p:txBody>
          <a:bodyPr/>
          <a:lstStyle/>
          <a:p>
            <a:endParaRPr lang="en-US"/>
          </a:p>
        </p:txBody>
      </p:sp>
      <p:sp>
        <p:nvSpPr>
          <p:cNvPr id="26" name="TextBox 26"/>
          <p:cNvSpPr txBox="1"/>
          <p:nvPr/>
        </p:nvSpPr>
        <p:spPr>
          <a:xfrm>
            <a:off x="10096500" y="1028700"/>
            <a:ext cx="7162800" cy="485765"/>
          </a:xfrm>
          <a:prstGeom prst="rect">
            <a:avLst/>
          </a:prstGeom>
        </p:spPr>
        <p:txBody>
          <a:bodyPr lIns="0" tIns="0" rIns="0" bIns="0" rtlCol="0" anchor="t">
            <a:spAutoFit/>
          </a:bodyPr>
          <a:lstStyle/>
          <a:p>
            <a:pPr marL="0" lvl="0" indent="0" algn="l">
              <a:lnSpc>
                <a:spcPts val="3840"/>
              </a:lnSpc>
              <a:spcBef>
                <a:spcPct val="0"/>
              </a:spcBef>
            </a:pPr>
            <a:r>
              <a:rPr lang="en-US" sz="3200" b="1">
                <a:solidFill>
                  <a:srgbClr val="1B322A"/>
                </a:solidFill>
                <a:latin typeface="Open Sauce Bold"/>
                <a:ea typeface="Open Sauce Bold"/>
                <a:cs typeface="Open Sauce Bold"/>
                <a:sym typeface="Open Sauce Bold"/>
              </a:rPr>
              <a:t>Categories </a:t>
            </a:r>
            <a:r>
              <a:rPr lang="en-US" sz="3200" b="1" u="none" strike="noStrike">
                <a:solidFill>
                  <a:srgbClr val="1B322A"/>
                </a:solidFill>
                <a:latin typeface="Open Sauce Bold"/>
                <a:ea typeface="Open Sauce Bold"/>
                <a:cs typeface="Open Sauce Bold"/>
                <a:sym typeface="Open Sauce Bold"/>
              </a:rPr>
              <a:t>Sales Comparison</a:t>
            </a:r>
          </a:p>
        </p:txBody>
      </p:sp>
      <p:sp>
        <p:nvSpPr>
          <p:cNvPr id="27" name="TextBox 27"/>
          <p:cNvSpPr txBox="1"/>
          <p:nvPr/>
        </p:nvSpPr>
        <p:spPr>
          <a:xfrm>
            <a:off x="13591377" y="2556913"/>
            <a:ext cx="3667923" cy="737255"/>
          </a:xfrm>
          <a:prstGeom prst="rect">
            <a:avLst/>
          </a:prstGeom>
        </p:spPr>
        <p:txBody>
          <a:bodyPr lIns="0" tIns="0" rIns="0" bIns="0" rtlCol="0" anchor="t">
            <a:spAutoFit/>
          </a:bodyPr>
          <a:lstStyle/>
          <a:p>
            <a:pPr marL="0" lvl="0" indent="0" algn="l">
              <a:lnSpc>
                <a:spcPts val="2940"/>
              </a:lnSpc>
              <a:spcBef>
                <a:spcPct val="0"/>
              </a:spcBef>
            </a:pPr>
            <a:r>
              <a:rPr lang="en-US" sz="2100">
                <a:solidFill>
                  <a:srgbClr val="737373"/>
                </a:solidFill>
                <a:latin typeface="TT Interphases"/>
                <a:ea typeface="TT Interphases"/>
                <a:cs typeface="TT Interphases"/>
                <a:sym typeface="TT Interphases"/>
              </a:rPr>
              <a:t>Impress</a:t>
            </a:r>
            <a:r>
              <a:rPr lang="en-US" sz="2100" u="none" strike="noStrike">
                <a:solidFill>
                  <a:srgbClr val="737373"/>
                </a:solidFill>
                <a:latin typeface="TT Interphases"/>
                <a:ea typeface="TT Interphases"/>
                <a:cs typeface="TT Interphases"/>
                <a:sym typeface="TT Interphases"/>
              </a:rPr>
              <a:t>ive results achieved by Technology Category</a:t>
            </a:r>
          </a:p>
        </p:txBody>
      </p:sp>
      <p:sp>
        <p:nvSpPr>
          <p:cNvPr id="28" name="TextBox 28"/>
          <p:cNvSpPr txBox="1"/>
          <p:nvPr/>
        </p:nvSpPr>
        <p:spPr>
          <a:xfrm>
            <a:off x="13591377" y="4980708"/>
            <a:ext cx="3667923" cy="365770"/>
          </a:xfrm>
          <a:prstGeom prst="rect">
            <a:avLst/>
          </a:prstGeom>
        </p:spPr>
        <p:txBody>
          <a:bodyPr lIns="0" tIns="0" rIns="0" bIns="0" rtlCol="0" anchor="t">
            <a:spAutoFit/>
          </a:bodyPr>
          <a:lstStyle/>
          <a:p>
            <a:pPr marL="0" lvl="0" indent="0" algn="l">
              <a:lnSpc>
                <a:spcPts val="2940"/>
              </a:lnSpc>
              <a:spcBef>
                <a:spcPct val="0"/>
              </a:spcBef>
            </a:pPr>
            <a:r>
              <a:rPr lang="en-US" sz="2100">
                <a:solidFill>
                  <a:srgbClr val="737373"/>
                </a:solidFill>
                <a:latin typeface="TT Interphases"/>
                <a:ea typeface="TT Interphases"/>
                <a:cs typeface="TT Interphases"/>
                <a:sym typeface="TT Interphases"/>
              </a:rPr>
              <a:t>Enhanced Sales </a:t>
            </a:r>
            <a:r>
              <a:rPr lang="en-US" sz="2100" u="none" strike="noStrike">
                <a:solidFill>
                  <a:srgbClr val="737373"/>
                </a:solidFill>
                <a:latin typeface="TT Interphases"/>
                <a:ea typeface="TT Interphases"/>
                <a:cs typeface="TT Interphases"/>
                <a:sym typeface="TT Interphases"/>
              </a:rPr>
              <a:t>growth.</a:t>
            </a:r>
          </a:p>
        </p:txBody>
      </p:sp>
      <p:sp>
        <p:nvSpPr>
          <p:cNvPr id="29" name="TextBox 29"/>
          <p:cNvSpPr txBox="1"/>
          <p:nvPr/>
        </p:nvSpPr>
        <p:spPr>
          <a:xfrm>
            <a:off x="13591377" y="7627388"/>
            <a:ext cx="3667923" cy="365770"/>
          </a:xfrm>
          <a:prstGeom prst="rect">
            <a:avLst/>
          </a:prstGeom>
        </p:spPr>
        <p:txBody>
          <a:bodyPr lIns="0" tIns="0" rIns="0" bIns="0" rtlCol="0" anchor="t">
            <a:spAutoFit/>
          </a:bodyPr>
          <a:lstStyle/>
          <a:p>
            <a:pPr marL="0" lvl="0" indent="0" algn="l">
              <a:lnSpc>
                <a:spcPts val="2940"/>
              </a:lnSpc>
              <a:spcBef>
                <a:spcPct val="0"/>
              </a:spcBef>
            </a:pPr>
            <a:r>
              <a:rPr lang="en-US" sz="2100">
                <a:solidFill>
                  <a:srgbClr val="737373"/>
                </a:solidFill>
                <a:latin typeface="TT Interphases"/>
                <a:ea typeface="TT Interphases"/>
                <a:cs typeface="TT Interphases"/>
                <a:sym typeface="TT Interphases"/>
              </a:rPr>
              <a:t>Good Growth </a:t>
            </a:r>
          </a:p>
        </p:txBody>
      </p:sp>
      <p:sp>
        <p:nvSpPr>
          <p:cNvPr id="30" name="TextBox 30"/>
          <p:cNvSpPr txBox="1"/>
          <p:nvPr/>
        </p:nvSpPr>
        <p:spPr>
          <a:xfrm>
            <a:off x="13591377" y="2202562"/>
            <a:ext cx="3667923" cy="354299"/>
          </a:xfrm>
          <a:prstGeom prst="rect">
            <a:avLst/>
          </a:prstGeom>
        </p:spPr>
        <p:txBody>
          <a:bodyPr lIns="0" tIns="0" rIns="0" bIns="0" rtlCol="0" anchor="t">
            <a:spAutoFit/>
          </a:bodyPr>
          <a:lstStyle/>
          <a:p>
            <a:pPr algn="l">
              <a:lnSpc>
                <a:spcPts val="2519"/>
              </a:lnSpc>
            </a:pPr>
            <a:r>
              <a:rPr lang="en-US" sz="2799" b="1">
                <a:solidFill>
                  <a:srgbClr val="1B322A"/>
                </a:solidFill>
                <a:latin typeface="Open Sauce Bold"/>
                <a:ea typeface="Open Sauce Bold"/>
                <a:cs typeface="Open Sauce Bold"/>
                <a:sym typeface="Open Sauce Bold"/>
              </a:rPr>
              <a:t>Technology</a:t>
            </a:r>
          </a:p>
        </p:txBody>
      </p:sp>
      <p:sp>
        <p:nvSpPr>
          <p:cNvPr id="31" name="TextBox 31"/>
          <p:cNvSpPr txBox="1"/>
          <p:nvPr/>
        </p:nvSpPr>
        <p:spPr>
          <a:xfrm>
            <a:off x="13591377" y="4626357"/>
            <a:ext cx="3667923" cy="354299"/>
          </a:xfrm>
          <a:prstGeom prst="rect">
            <a:avLst/>
          </a:prstGeom>
        </p:spPr>
        <p:txBody>
          <a:bodyPr lIns="0" tIns="0" rIns="0" bIns="0" rtlCol="0" anchor="t">
            <a:spAutoFit/>
          </a:bodyPr>
          <a:lstStyle/>
          <a:p>
            <a:pPr algn="l">
              <a:lnSpc>
                <a:spcPts val="2519"/>
              </a:lnSpc>
            </a:pPr>
            <a:r>
              <a:rPr lang="en-US" sz="2799" b="1">
                <a:solidFill>
                  <a:srgbClr val="1B322A"/>
                </a:solidFill>
                <a:latin typeface="Open Sauce Bold"/>
                <a:ea typeface="Open Sauce Bold"/>
                <a:cs typeface="Open Sauce Bold"/>
                <a:sym typeface="Open Sauce Bold"/>
              </a:rPr>
              <a:t>Furniture</a:t>
            </a:r>
          </a:p>
        </p:txBody>
      </p:sp>
      <p:sp>
        <p:nvSpPr>
          <p:cNvPr id="32" name="TextBox 32"/>
          <p:cNvSpPr txBox="1"/>
          <p:nvPr/>
        </p:nvSpPr>
        <p:spPr>
          <a:xfrm>
            <a:off x="13591377" y="7273037"/>
            <a:ext cx="3667923" cy="354299"/>
          </a:xfrm>
          <a:prstGeom prst="rect">
            <a:avLst/>
          </a:prstGeom>
        </p:spPr>
        <p:txBody>
          <a:bodyPr lIns="0" tIns="0" rIns="0" bIns="0" rtlCol="0" anchor="t">
            <a:spAutoFit/>
          </a:bodyPr>
          <a:lstStyle/>
          <a:p>
            <a:pPr algn="l">
              <a:lnSpc>
                <a:spcPts val="2519"/>
              </a:lnSpc>
            </a:pPr>
            <a:r>
              <a:rPr lang="en-US" sz="2799" b="1">
                <a:solidFill>
                  <a:srgbClr val="1B322A"/>
                </a:solidFill>
                <a:latin typeface="Open Sauce Bold"/>
                <a:ea typeface="Open Sauce Bold"/>
                <a:cs typeface="Open Sauce Bold"/>
                <a:sym typeface="Open Sauce Bold"/>
              </a:rPr>
              <a:t>Office Supplies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9F1B7"/>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006384" y="1051016"/>
            <a:ext cx="1093470" cy="1048839"/>
            <a:chOff x="0" y="0"/>
            <a:chExt cx="622300" cy="596900"/>
          </a:xfrm>
        </p:grpSpPr>
        <p:sp>
          <p:nvSpPr>
            <p:cNvPr id="3" name="Freeform 3"/>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FFFFFF">
                    <a:alpha val="100000"/>
                  </a:srgbClr>
                </a:gs>
                <a:gs pos="100000">
                  <a:srgbClr val="FFFFFF">
                    <a:alpha val="0"/>
                  </a:srgbClr>
                </a:gs>
              </a:gsLst>
              <a:lin ang="0"/>
            </a:gradFill>
          </p:spPr>
          <p:txBody>
            <a:bodyPr/>
            <a:lstStyle/>
            <a:p>
              <a:endParaRPr lang="en-US"/>
            </a:p>
          </p:txBody>
        </p:sp>
        <p:sp>
          <p:nvSpPr>
            <p:cNvPr id="4" name="TextBox 4"/>
            <p:cNvSpPr txBox="1"/>
            <p:nvPr/>
          </p:nvSpPr>
          <p:spPr>
            <a:xfrm>
              <a:off x="0" y="155575"/>
              <a:ext cx="622300" cy="314325"/>
            </a:xfrm>
            <a:prstGeom prst="rect">
              <a:avLst/>
            </a:prstGeom>
          </p:spPr>
          <p:txBody>
            <a:bodyPr lIns="50800" tIns="50800" rIns="50800" bIns="50800" rtlCol="0" anchor="ctr"/>
            <a:lstStyle/>
            <a:p>
              <a:pPr algn="ctr">
                <a:lnSpc>
                  <a:spcPts val="1890"/>
                </a:lnSpc>
              </a:pPr>
              <a:endParaRPr/>
            </a:p>
          </p:txBody>
        </p:sp>
      </p:grpSp>
      <p:sp>
        <p:nvSpPr>
          <p:cNvPr id="5" name="TextBox 5"/>
          <p:cNvSpPr txBox="1"/>
          <p:nvPr/>
        </p:nvSpPr>
        <p:spPr>
          <a:xfrm>
            <a:off x="2409349" y="1171575"/>
            <a:ext cx="14849951" cy="954471"/>
          </a:xfrm>
          <a:prstGeom prst="rect">
            <a:avLst/>
          </a:prstGeom>
        </p:spPr>
        <p:txBody>
          <a:bodyPr lIns="0" tIns="0" rIns="0" bIns="0" rtlCol="0" anchor="t">
            <a:spAutoFit/>
          </a:bodyPr>
          <a:lstStyle/>
          <a:p>
            <a:pPr algn="l">
              <a:lnSpc>
                <a:spcPts val="7200"/>
              </a:lnSpc>
            </a:pPr>
            <a:r>
              <a:rPr lang="en-US" sz="7200" b="1">
                <a:solidFill>
                  <a:srgbClr val="1B322A"/>
                </a:solidFill>
                <a:latin typeface="Open Sauce Bold"/>
                <a:ea typeface="Open Sauce Bold"/>
                <a:cs typeface="Open Sauce Bold"/>
                <a:sym typeface="Open Sauce Bold"/>
              </a:rPr>
              <a:t>Customer Segments</a:t>
            </a:r>
          </a:p>
        </p:txBody>
      </p:sp>
      <p:sp>
        <p:nvSpPr>
          <p:cNvPr id="6" name="TextBox 6"/>
          <p:cNvSpPr txBox="1"/>
          <p:nvPr/>
        </p:nvSpPr>
        <p:spPr>
          <a:xfrm>
            <a:off x="1028700" y="8040053"/>
            <a:ext cx="4933950" cy="737235"/>
          </a:xfrm>
          <a:prstGeom prst="rect">
            <a:avLst/>
          </a:prstGeom>
        </p:spPr>
        <p:txBody>
          <a:bodyPr lIns="0" tIns="0" rIns="0" bIns="0" rtlCol="0" anchor="t">
            <a:spAutoFit/>
          </a:bodyPr>
          <a:lstStyle/>
          <a:p>
            <a:pPr algn="l">
              <a:lnSpc>
                <a:spcPts val="2940"/>
              </a:lnSpc>
            </a:pPr>
            <a:r>
              <a:rPr lang="en-US" sz="2100">
                <a:solidFill>
                  <a:srgbClr val="1B322A"/>
                </a:solidFill>
                <a:latin typeface="TT Interphases"/>
                <a:ea typeface="TT Interphases"/>
                <a:cs typeface="TT Interphases"/>
                <a:sym typeface="TT Interphases"/>
              </a:rPr>
              <a:t>Main revenue contributor with long-term contracts.</a:t>
            </a:r>
          </a:p>
        </p:txBody>
      </p:sp>
      <p:sp>
        <p:nvSpPr>
          <p:cNvPr id="7" name="TextBox 7"/>
          <p:cNvSpPr txBox="1"/>
          <p:nvPr/>
        </p:nvSpPr>
        <p:spPr>
          <a:xfrm>
            <a:off x="6677025" y="8040053"/>
            <a:ext cx="4933950" cy="737235"/>
          </a:xfrm>
          <a:prstGeom prst="rect">
            <a:avLst/>
          </a:prstGeom>
        </p:spPr>
        <p:txBody>
          <a:bodyPr lIns="0" tIns="0" rIns="0" bIns="0" rtlCol="0" anchor="t">
            <a:spAutoFit/>
          </a:bodyPr>
          <a:lstStyle/>
          <a:p>
            <a:pPr algn="l">
              <a:lnSpc>
                <a:spcPts val="2940"/>
              </a:lnSpc>
            </a:pPr>
            <a:r>
              <a:rPr lang="en-US" sz="2100">
                <a:solidFill>
                  <a:srgbClr val="1B322A"/>
                </a:solidFill>
                <a:latin typeface="TT Interphases"/>
                <a:ea typeface="TT Interphases"/>
                <a:cs typeface="TT Interphases"/>
                <a:sym typeface="TT Interphases"/>
              </a:rPr>
              <a:t>Fast-growing group, boosted by digital campaigns.</a:t>
            </a:r>
          </a:p>
        </p:txBody>
      </p:sp>
      <p:sp>
        <p:nvSpPr>
          <p:cNvPr id="8" name="TextBox 8"/>
          <p:cNvSpPr txBox="1"/>
          <p:nvPr/>
        </p:nvSpPr>
        <p:spPr>
          <a:xfrm>
            <a:off x="12325350" y="8066712"/>
            <a:ext cx="4933950" cy="365770"/>
          </a:xfrm>
          <a:prstGeom prst="rect">
            <a:avLst/>
          </a:prstGeom>
        </p:spPr>
        <p:txBody>
          <a:bodyPr lIns="0" tIns="0" rIns="0" bIns="0" rtlCol="0" anchor="t">
            <a:spAutoFit/>
          </a:bodyPr>
          <a:lstStyle/>
          <a:p>
            <a:pPr algn="l">
              <a:lnSpc>
                <a:spcPts val="2940"/>
              </a:lnSpc>
            </a:pPr>
            <a:r>
              <a:rPr lang="en-US" sz="2100">
                <a:solidFill>
                  <a:srgbClr val="1B322A"/>
                </a:solidFill>
                <a:latin typeface="TT Interphases"/>
                <a:ea typeface="TT Interphases"/>
                <a:cs typeface="TT Interphases"/>
                <a:sym typeface="TT Interphases"/>
              </a:rPr>
              <a:t>New market opportunity </a:t>
            </a:r>
          </a:p>
        </p:txBody>
      </p:sp>
      <p:sp>
        <p:nvSpPr>
          <p:cNvPr id="9" name="AutoShape 9"/>
          <p:cNvSpPr/>
          <p:nvPr/>
        </p:nvSpPr>
        <p:spPr>
          <a:xfrm>
            <a:off x="1028700" y="9253538"/>
            <a:ext cx="4933950" cy="0"/>
          </a:xfrm>
          <a:prstGeom prst="line">
            <a:avLst/>
          </a:prstGeom>
          <a:ln w="9525" cap="flat">
            <a:solidFill>
              <a:srgbClr val="1B322A"/>
            </a:solidFill>
            <a:prstDash val="solid"/>
            <a:headEnd type="none" w="sm" len="sm"/>
            <a:tailEnd type="none" w="sm" len="sm"/>
          </a:ln>
        </p:spPr>
        <p:txBody>
          <a:bodyPr/>
          <a:lstStyle/>
          <a:p>
            <a:endParaRPr lang="en-US"/>
          </a:p>
        </p:txBody>
      </p:sp>
      <p:sp>
        <p:nvSpPr>
          <p:cNvPr id="10" name="AutoShape 10"/>
          <p:cNvSpPr/>
          <p:nvPr/>
        </p:nvSpPr>
        <p:spPr>
          <a:xfrm>
            <a:off x="6677025" y="9253538"/>
            <a:ext cx="4933950" cy="0"/>
          </a:xfrm>
          <a:prstGeom prst="line">
            <a:avLst/>
          </a:prstGeom>
          <a:ln w="9525" cap="flat">
            <a:solidFill>
              <a:srgbClr val="1B322A"/>
            </a:solidFill>
            <a:prstDash val="solid"/>
            <a:headEnd type="none" w="sm" len="sm"/>
            <a:tailEnd type="none" w="sm" len="sm"/>
          </a:ln>
        </p:spPr>
        <p:txBody>
          <a:bodyPr/>
          <a:lstStyle/>
          <a:p>
            <a:endParaRPr lang="en-US"/>
          </a:p>
        </p:txBody>
      </p:sp>
      <p:sp>
        <p:nvSpPr>
          <p:cNvPr id="11" name="AutoShape 11"/>
          <p:cNvSpPr/>
          <p:nvPr/>
        </p:nvSpPr>
        <p:spPr>
          <a:xfrm>
            <a:off x="12325350" y="9253538"/>
            <a:ext cx="4933950" cy="0"/>
          </a:xfrm>
          <a:prstGeom prst="line">
            <a:avLst/>
          </a:prstGeom>
          <a:ln w="9525" cap="flat">
            <a:solidFill>
              <a:srgbClr val="1B322A"/>
            </a:solidFill>
            <a:prstDash val="solid"/>
            <a:headEnd type="none" w="sm" len="sm"/>
            <a:tailEnd type="none" w="sm" len="sm"/>
          </a:ln>
        </p:spPr>
        <p:txBody>
          <a:bodyPr/>
          <a:lstStyle/>
          <a:p>
            <a:endParaRPr lang="en-US"/>
          </a:p>
        </p:txBody>
      </p:sp>
      <p:sp>
        <p:nvSpPr>
          <p:cNvPr id="12" name="TextBox 12"/>
          <p:cNvSpPr txBox="1"/>
          <p:nvPr/>
        </p:nvSpPr>
        <p:spPr>
          <a:xfrm>
            <a:off x="1028700" y="7642795"/>
            <a:ext cx="4933950" cy="354299"/>
          </a:xfrm>
          <a:prstGeom prst="rect">
            <a:avLst/>
          </a:prstGeom>
        </p:spPr>
        <p:txBody>
          <a:bodyPr lIns="0" tIns="0" rIns="0" bIns="0" rtlCol="0" anchor="t">
            <a:spAutoFit/>
          </a:bodyPr>
          <a:lstStyle/>
          <a:p>
            <a:pPr algn="l">
              <a:lnSpc>
                <a:spcPts val="2519"/>
              </a:lnSpc>
            </a:pPr>
            <a:r>
              <a:rPr lang="en-US" sz="2799" b="1">
                <a:solidFill>
                  <a:srgbClr val="1B322A"/>
                </a:solidFill>
                <a:latin typeface="Open Sauce Bold"/>
                <a:ea typeface="Open Sauce Bold"/>
                <a:cs typeface="Open Sauce Bold"/>
                <a:sym typeface="Open Sauce Bold"/>
              </a:rPr>
              <a:t>Consumer</a:t>
            </a:r>
          </a:p>
        </p:txBody>
      </p:sp>
      <p:sp>
        <p:nvSpPr>
          <p:cNvPr id="13" name="TextBox 13"/>
          <p:cNvSpPr txBox="1"/>
          <p:nvPr/>
        </p:nvSpPr>
        <p:spPr>
          <a:xfrm>
            <a:off x="6677025" y="7642795"/>
            <a:ext cx="4933950" cy="354299"/>
          </a:xfrm>
          <a:prstGeom prst="rect">
            <a:avLst/>
          </a:prstGeom>
        </p:spPr>
        <p:txBody>
          <a:bodyPr lIns="0" tIns="0" rIns="0" bIns="0" rtlCol="0" anchor="t">
            <a:spAutoFit/>
          </a:bodyPr>
          <a:lstStyle/>
          <a:p>
            <a:pPr algn="l">
              <a:lnSpc>
                <a:spcPts val="2519"/>
              </a:lnSpc>
            </a:pPr>
            <a:r>
              <a:rPr lang="en-US" sz="2799" b="1">
                <a:solidFill>
                  <a:srgbClr val="1B322A"/>
                </a:solidFill>
                <a:latin typeface="Open Sauce Bold"/>
                <a:ea typeface="Open Sauce Bold"/>
                <a:cs typeface="Open Sauce Bold"/>
                <a:sym typeface="Open Sauce Bold"/>
              </a:rPr>
              <a:t>Corporate</a:t>
            </a:r>
          </a:p>
        </p:txBody>
      </p:sp>
      <p:sp>
        <p:nvSpPr>
          <p:cNvPr id="14" name="TextBox 14"/>
          <p:cNvSpPr txBox="1"/>
          <p:nvPr/>
        </p:nvSpPr>
        <p:spPr>
          <a:xfrm>
            <a:off x="12325350" y="7642795"/>
            <a:ext cx="4933950" cy="354299"/>
          </a:xfrm>
          <a:prstGeom prst="rect">
            <a:avLst/>
          </a:prstGeom>
        </p:spPr>
        <p:txBody>
          <a:bodyPr lIns="0" tIns="0" rIns="0" bIns="0" rtlCol="0" anchor="t">
            <a:spAutoFit/>
          </a:bodyPr>
          <a:lstStyle/>
          <a:p>
            <a:pPr algn="l">
              <a:lnSpc>
                <a:spcPts val="2519"/>
              </a:lnSpc>
            </a:pPr>
            <a:r>
              <a:rPr lang="en-US" sz="2799" b="1">
                <a:solidFill>
                  <a:srgbClr val="1B322A"/>
                </a:solidFill>
                <a:latin typeface="Open Sauce Bold"/>
                <a:ea typeface="Open Sauce Bold"/>
                <a:cs typeface="Open Sauce Bold"/>
                <a:sym typeface="Open Sauce Bold"/>
              </a:rPr>
              <a:t>Home Office</a:t>
            </a:r>
          </a:p>
        </p:txBody>
      </p:sp>
      <p:sp>
        <p:nvSpPr>
          <p:cNvPr id="15" name="AutoShape 15"/>
          <p:cNvSpPr/>
          <p:nvPr/>
        </p:nvSpPr>
        <p:spPr>
          <a:xfrm>
            <a:off x="1028700" y="3274314"/>
            <a:ext cx="4933950" cy="0"/>
          </a:xfrm>
          <a:prstGeom prst="line">
            <a:avLst/>
          </a:prstGeom>
          <a:ln w="9525" cap="flat">
            <a:solidFill>
              <a:srgbClr val="1B322A"/>
            </a:solidFill>
            <a:prstDash val="solid"/>
            <a:headEnd type="none" w="sm" len="sm"/>
            <a:tailEnd type="none" w="sm" len="sm"/>
          </a:ln>
        </p:spPr>
        <p:txBody>
          <a:bodyPr/>
          <a:lstStyle/>
          <a:p>
            <a:endParaRPr lang="en-US"/>
          </a:p>
        </p:txBody>
      </p:sp>
      <p:sp>
        <p:nvSpPr>
          <p:cNvPr id="16" name="AutoShape 16"/>
          <p:cNvSpPr/>
          <p:nvPr/>
        </p:nvSpPr>
        <p:spPr>
          <a:xfrm>
            <a:off x="6677025" y="3274314"/>
            <a:ext cx="4933950" cy="0"/>
          </a:xfrm>
          <a:prstGeom prst="line">
            <a:avLst/>
          </a:prstGeom>
          <a:ln w="9525" cap="flat">
            <a:solidFill>
              <a:srgbClr val="1B322A"/>
            </a:solidFill>
            <a:prstDash val="solid"/>
            <a:headEnd type="none" w="sm" len="sm"/>
            <a:tailEnd type="none" w="sm" len="sm"/>
          </a:ln>
        </p:spPr>
        <p:txBody>
          <a:bodyPr/>
          <a:lstStyle/>
          <a:p>
            <a:endParaRPr lang="en-US"/>
          </a:p>
        </p:txBody>
      </p:sp>
      <p:sp>
        <p:nvSpPr>
          <p:cNvPr id="17" name="AutoShape 17"/>
          <p:cNvSpPr/>
          <p:nvPr/>
        </p:nvSpPr>
        <p:spPr>
          <a:xfrm>
            <a:off x="12325350" y="3274314"/>
            <a:ext cx="4933950" cy="0"/>
          </a:xfrm>
          <a:prstGeom prst="line">
            <a:avLst/>
          </a:prstGeom>
          <a:ln w="9525" cap="flat">
            <a:solidFill>
              <a:srgbClr val="1B322A"/>
            </a:solidFill>
            <a:prstDash val="solid"/>
            <a:headEnd type="none" w="sm" len="sm"/>
            <a:tailEnd type="none" w="sm" len="sm"/>
          </a:ln>
        </p:spPr>
        <p:txBody>
          <a:bodyPr/>
          <a:lstStyle/>
          <a:p>
            <a:endParaRPr lang="en-US"/>
          </a:p>
        </p:txBody>
      </p:sp>
      <p:pic>
        <p:nvPicPr>
          <p:cNvPr id="18" name="Picture 18"/>
          <p:cNvPicPr>
            <a:picLocks noChangeAspect="1"/>
          </p:cNvPicPr>
          <p:nvPr/>
        </p:nvPicPr>
        <p:blipFill>
          <a:blip r:embed="rId2"/>
          <a:stretch>
            <a:fillRect/>
          </a:stretch>
        </p:blipFill>
        <p:spPr>
          <a:xfrm>
            <a:off x="676513" y="3165014"/>
            <a:ext cx="4226243" cy="2465308"/>
          </a:xfrm>
          <a:prstGeom prst="rect">
            <a:avLst/>
          </a:prstGeom>
        </p:spPr>
      </p:pic>
      <p:pic>
        <p:nvPicPr>
          <p:cNvPr id="19" name="Picture 19"/>
          <p:cNvPicPr>
            <a:picLocks noChangeAspect="1"/>
          </p:cNvPicPr>
          <p:nvPr/>
        </p:nvPicPr>
        <p:blipFill>
          <a:blip r:embed="rId3"/>
          <a:stretch>
            <a:fillRect/>
          </a:stretch>
        </p:blipFill>
        <p:spPr>
          <a:xfrm>
            <a:off x="6324838" y="3165014"/>
            <a:ext cx="4226243" cy="2465308"/>
          </a:xfrm>
          <a:prstGeom prst="rect">
            <a:avLst/>
          </a:prstGeom>
        </p:spPr>
      </p:pic>
      <p:pic>
        <p:nvPicPr>
          <p:cNvPr id="20" name="Picture 20"/>
          <p:cNvPicPr>
            <a:picLocks noChangeAspect="1"/>
          </p:cNvPicPr>
          <p:nvPr/>
        </p:nvPicPr>
        <p:blipFill>
          <a:blip r:embed="rId4"/>
          <a:stretch>
            <a:fillRect/>
          </a:stretch>
        </p:blipFill>
        <p:spPr>
          <a:xfrm>
            <a:off x="11973163" y="3165014"/>
            <a:ext cx="4226243" cy="246530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322A"/>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006384" y="1051016"/>
            <a:ext cx="1093470" cy="1048839"/>
            <a:chOff x="0" y="0"/>
            <a:chExt cx="622300" cy="596900"/>
          </a:xfrm>
        </p:grpSpPr>
        <p:sp>
          <p:nvSpPr>
            <p:cNvPr id="3" name="Freeform 3"/>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C9F1B7">
                    <a:alpha val="100000"/>
                  </a:srgbClr>
                </a:gs>
                <a:gs pos="100000">
                  <a:srgbClr val="C9F1B8">
                    <a:alpha val="0"/>
                  </a:srgbClr>
                </a:gs>
              </a:gsLst>
              <a:lin ang="0"/>
            </a:gradFill>
          </p:spPr>
          <p:txBody>
            <a:bodyPr/>
            <a:lstStyle/>
            <a:p>
              <a:endParaRPr lang="en-US"/>
            </a:p>
          </p:txBody>
        </p:sp>
        <p:sp>
          <p:nvSpPr>
            <p:cNvPr id="4" name="TextBox 4"/>
            <p:cNvSpPr txBox="1"/>
            <p:nvPr/>
          </p:nvSpPr>
          <p:spPr>
            <a:xfrm>
              <a:off x="0" y="155575"/>
              <a:ext cx="622300" cy="314325"/>
            </a:xfrm>
            <a:prstGeom prst="rect">
              <a:avLst/>
            </a:prstGeom>
          </p:spPr>
          <p:txBody>
            <a:bodyPr lIns="50800" tIns="50800" rIns="50800" bIns="50800" rtlCol="0" anchor="ctr"/>
            <a:lstStyle/>
            <a:p>
              <a:pPr algn="ctr">
                <a:lnSpc>
                  <a:spcPts val="1890"/>
                </a:lnSpc>
              </a:pPr>
              <a:endParaRPr/>
            </a:p>
          </p:txBody>
        </p:sp>
      </p:grpSp>
      <p:grpSp>
        <p:nvGrpSpPr>
          <p:cNvPr id="5" name="Group 5"/>
          <p:cNvGrpSpPr/>
          <p:nvPr/>
        </p:nvGrpSpPr>
        <p:grpSpPr>
          <a:xfrm>
            <a:off x="1028700" y="3508629"/>
            <a:ext cx="952500" cy="952500"/>
            <a:chOff x="0" y="0"/>
            <a:chExt cx="713005" cy="713005"/>
          </a:xfrm>
        </p:grpSpPr>
        <p:sp>
          <p:nvSpPr>
            <p:cNvPr id="6" name="Freeform 6"/>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C9F1B7"/>
            </a:solidFill>
          </p:spPr>
          <p:txBody>
            <a:bodyPr/>
            <a:lstStyle/>
            <a:p>
              <a:endParaRPr lang="en-US"/>
            </a:p>
          </p:txBody>
        </p:sp>
        <p:sp>
          <p:nvSpPr>
            <p:cNvPr id="7" name="TextBox 7"/>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01</a:t>
              </a:r>
            </a:p>
          </p:txBody>
        </p:sp>
      </p:grpSp>
      <p:grpSp>
        <p:nvGrpSpPr>
          <p:cNvPr id="8" name="Group 8"/>
          <p:cNvGrpSpPr/>
          <p:nvPr/>
        </p:nvGrpSpPr>
        <p:grpSpPr>
          <a:xfrm>
            <a:off x="6677025" y="3508629"/>
            <a:ext cx="952500" cy="952500"/>
            <a:chOff x="0" y="0"/>
            <a:chExt cx="713005" cy="713005"/>
          </a:xfrm>
        </p:grpSpPr>
        <p:sp>
          <p:nvSpPr>
            <p:cNvPr id="9" name="Freeform 9"/>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C9F1B7"/>
            </a:solidFill>
          </p:spPr>
          <p:txBody>
            <a:bodyPr/>
            <a:lstStyle/>
            <a:p>
              <a:endParaRPr lang="en-US"/>
            </a:p>
          </p:txBody>
        </p:sp>
        <p:sp>
          <p:nvSpPr>
            <p:cNvPr id="10" name="TextBox 10"/>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02</a:t>
              </a:r>
            </a:p>
          </p:txBody>
        </p:sp>
      </p:grpSp>
      <p:grpSp>
        <p:nvGrpSpPr>
          <p:cNvPr id="11" name="Group 11"/>
          <p:cNvGrpSpPr/>
          <p:nvPr/>
        </p:nvGrpSpPr>
        <p:grpSpPr>
          <a:xfrm>
            <a:off x="12325350" y="3508629"/>
            <a:ext cx="952500" cy="952500"/>
            <a:chOff x="0" y="0"/>
            <a:chExt cx="713005" cy="713005"/>
          </a:xfrm>
        </p:grpSpPr>
        <p:sp>
          <p:nvSpPr>
            <p:cNvPr id="12" name="Freeform 12"/>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C9F1B7"/>
            </a:solidFill>
          </p:spPr>
          <p:txBody>
            <a:bodyPr/>
            <a:lstStyle/>
            <a:p>
              <a:endParaRPr lang="en-US"/>
            </a:p>
          </p:txBody>
        </p:sp>
        <p:sp>
          <p:nvSpPr>
            <p:cNvPr id="13" name="TextBox 13"/>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03</a:t>
              </a:r>
            </a:p>
          </p:txBody>
        </p:sp>
      </p:grpSp>
      <p:grpSp>
        <p:nvGrpSpPr>
          <p:cNvPr id="14" name="Group 14"/>
          <p:cNvGrpSpPr/>
          <p:nvPr/>
        </p:nvGrpSpPr>
        <p:grpSpPr>
          <a:xfrm>
            <a:off x="2219325" y="3508629"/>
            <a:ext cx="3743325" cy="2822891"/>
            <a:chOff x="0" y="0"/>
            <a:chExt cx="579939" cy="437340"/>
          </a:xfrm>
        </p:grpSpPr>
        <p:sp>
          <p:nvSpPr>
            <p:cNvPr id="15" name="Freeform 15"/>
            <p:cNvSpPr/>
            <p:nvPr/>
          </p:nvSpPr>
          <p:spPr>
            <a:xfrm>
              <a:off x="0" y="0"/>
              <a:ext cx="579939" cy="437340"/>
            </a:xfrm>
            <a:custGeom>
              <a:avLst/>
              <a:gdLst/>
              <a:ahLst/>
              <a:cxnLst/>
              <a:rect l="l" t="t" r="r" b="b"/>
              <a:pathLst>
                <a:path w="579939" h="437340">
                  <a:moveTo>
                    <a:pt x="41364" y="0"/>
                  </a:moveTo>
                  <a:lnTo>
                    <a:pt x="538575" y="0"/>
                  </a:lnTo>
                  <a:cubicBezTo>
                    <a:pt x="561420" y="0"/>
                    <a:pt x="579939" y="18519"/>
                    <a:pt x="579939" y="41364"/>
                  </a:cubicBezTo>
                  <a:lnTo>
                    <a:pt x="579939" y="395976"/>
                  </a:lnTo>
                  <a:cubicBezTo>
                    <a:pt x="579939" y="418821"/>
                    <a:pt x="561420" y="437340"/>
                    <a:pt x="538575" y="437340"/>
                  </a:cubicBezTo>
                  <a:lnTo>
                    <a:pt x="41364" y="437340"/>
                  </a:lnTo>
                  <a:cubicBezTo>
                    <a:pt x="18519" y="437340"/>
                    <a:pt x="0" y="418821"/>
                    <a:pt x="0" y="395976"/>
                  </a:cubicBezTo>
                  <a:lnTo>
                    <a:pt x="0" y="41364"/>
                  </a:lnTo>
                  <a:cubicBezTo>
                    <a:pt x="0" y="18519"/>
                    <a:pt x="18519" y="0"/>
                    <a:pt x="41364" y="0"/>
                  </a:cubicBezTo>
                  <a:close/>
                </a:path>
              </a:pathLst>
            </a:custGeom>
            <a:blipFill>
              <a:blip r:embed="rId2"/>
              <a:stretch>
                <a:fillRect t="-83" b="-83"/>
              </a:stretch>
            </a:blipFill>
          </p:spPr>
          <p:txBody>
            <a:bodyPr/>
            <a:lstStyle/>
            <a:p>
              <a:endParaRPr lang="en-US"/>
            </a:p>
          </p:txBody>
        </p:sp>
      </p:grpSp>
      <p:grpSp>
        <p:nvGrpSpPr>
          <p:cNvPr id="16" name="Group 16"/>
          <p:cNvGrpSpPr/>
          <p:nvPr/>
        </p:nvGrpSpPr>
        <p:grpSpPr>
          <a:xfrm>
            <a:off x="7867650" y="3508629"/>
            <a:ext cx="3743325" cy="2822891"/>
            <a:chOff x="0" y="0"/>
            <a:chExt cx="579939" cy="437340"/>
          </a:xfrm>
        </p:grpSpPr>
        <p:sp>
          <p:nvSpPr>
            <p:cNvPr id="17" name="Freeform 17"/>
            <p:cNvSpPr/>
            <p:nvPr/>
          </p:nvSpPr>
          <p:spPr>
            <a:xfrm>
              <a:off x="0" y="0"/>
              <a:ext cx="579939" cy="437340"/>
            </a:xfrm>
            <a:custGeom>
              <a:avLst/>
              <a:gdLst/>
              <a:ahLst/>
              <a:cxnLst/>
              <a:rect l="l" t="t" r="r" b="b"/>
              <a:pathLst>
                <a:path w="579939" h="437340">
                  <a:moveTo>
                    <a:pt x="41364" y="0"/>
                  </a:moveTo>
                  <a:lnTo>
                    <a:pt x="538575" y="0"/>
                  </a:lnTo>
                  <a:cubicBezTo>
                    <a:pt x="561420" y="0"/>
                    <a:pt x="579939" y="18519"/>
                    <a:pt x="579939" y="41364"/>
                  </a:cubicBezTo>
                  <a:lnTo>
                    <a:pt x="579939" y="395976"/>
                  </a:lnTo>
                  <a:cubicBezTo>
                    <a:pt x="579939" y="418821"/>
                    <a:pt x="561420" y="437340"/>
                    <a:pt x="538575" y="437340"/>
                  </a:cubicBezTo>
                  <a:lnTo>
                    <a:pt x="41364" y="437340"/>
                  </a:lnTo>
                  <a:cubicBezTo>
                    <a:pt x="18519" y="437340"/>
                    <a:pt x="0" y="418821"/>
                    <a:pt x="0" y="395976"/>
                  </a:cubicBezTo>
                  <a:lnTo>
                    <a:pt x="0" y="41364"/>
                  </a:lnTo>
                  <a:cubicBezTo>
                    <a:pt x="0" y="18519"/>
                    <a:pt x="18519" y="0"/>
                    <a:pt x="41364" y="0"/>
                  </a:cubicBezTo>
                  <a:close/>
                </a:path>
              </a:pathLst>
            </a:custGeom>
            <a:blipFill>
              <a:blip r:embed="rId3"/>
              <a:stretch>
                <a:fillRect t="-2" b="-2"/>
              </a:stretch>
            </a:blipFill>
          </p:spPr>
          <p:txBody>
            <a:bodyPr/>
            <a:lstStyle/>
            <a:p>
              <a:endParaRPr lang="en-US"/>
            </a:p>
          </p:txBody>
        </p:sp>
      </p:grpSp>
      <p:grpSp>
        <p:nvGrpSpPr>
          <p:cNvPr id="18" name="Group 18"/>
          <p:cNvGrpSpPr/>
          <p:nvPr/>
        </p:nvGrpSpPr>
        <p:grpSpPr>
          <a:xfrm>
            <a:off x="13515975" y="3508629"/>
            <a:ext cx="3743325" cy="2822891"/>
            <a:chOff x="0" y="0"/>
            <a:chExt cx="579939" cy="437340"/>
          </a:xfrm>
        </p:grpSpPr>
        <p:sp>
          <p:nvSpPr>
            <p:cNvPr id="19" name="Freeform 19"/>
            <p:cNvSpPr/>
            <p:nvPr/>
          </p:nvSpPr>
          <p:spPr>
            <a:xfrm>
              <a:off x="0" y="0"/>
              <a:ext cx="579939" cy="437340"/>
            </a:xfrm>
            <a:custGeom>
              <a:avLst/>
              <a:gdLst/>
              <a:ahLst/>
              <a:cxnLst/>
              <a:rect l="l" t="t" r="r" b="b"/>
              <a:pathLst>
                <a:path w="579939" h="437340">
                  <a:moveTo>
                    <a:pt x="41364" y="0"/>
                  </a:moveTo>
                  <a:lnTo>
                    <a:pt x="538575" y="0"/>
                  </a:lnTo>
                  <a:cubicBezTo>
                    <a:pt x="561420" y="0"/>
                    <a:pt x="579939" y="18519"/>
                    <a:pt x="579939" y="41364"/>
                  </a:cubicBezTo>
                  <a:lnTo>
                    <a:pt x="579939" y="395976"/>
                  </a:lnTo>
                  <a:cubicBezTo>
                    <a:pt x="579939" y="418821"/>
                    <a:pt x="561420" y="437340"/>
                    <a:pt x="538575" y="437340"/>
                  </a:cubicBezTo>
                  <a:lnTo>
                    <a:pt x="41364" y="437340"/>
                  </a:lnTo>
                  <a:cubicBezTo>
                    <a:pt x="18519" y="437340"/>
                    <a:pt x="0" y="418821"/>
                    <a:pt x="0" y="395976"/>
                  </a:cubicBezTo>
                  <a:lnTo>
                    <a:pt x="0" y="41364"/>
                  </a:lnTo>
                  <a:cubicBezTo>
                    <a:pt x="0" y="18519"/>
                    <a:pt x="18519" y="0"/>
                    <a:pt x="41364" y="0"/>
                  </a:cubicBezTo>
                  <a:close/>
                </a:path>
              </a:pathLst>
            </a:custGeom>
            <a:blipFill>
              <a:blip r:embed="rId4"/>
              <a:stretch>
                <a:fillRect t="-83" b="-83"/>
              </a:stretch>
            </a:blipFill>
          </p:spPr>
          <p:txBody>
            <a:bodyPr/>
            <a:lstStyle/>
            <a:p>
              <a:endParaRPr lang="en-US"/>
            </a:p>
          </p:txBody>
        </p:sp>
      </p:grpSp>
      <p:sp>
        <p:nvSpPr>
          <p:cNvPr id="20" name="AutoShape 20"/>
          <p:cNvSpPr/>
          <p:nvPr/>
        </p:nvSpPr>
        <p:spPr>
          <a:xfrm>
            <a:off x="1028700" y="3269551"/>
            <a:ext cx="4933950" cy="0"/>
          </a:xfrm>
          <a:prstGeom prst="line">
            <a:avLst/>
          </a:prstGeom>
          <a:ln w="9525" cap="flat">
            <a:solidFill>
              <a:srgbClr val="FFFFFF"/>
            </a:solidFill>
            <a:prstDash val="solid"/>
            <a:headEnd type="none" w="sm" len="sm"/>
            <a:tailEnd type="none" w="sm" len="sm"/>
          </a:ln>
        </p:spPr>
        <p:txBody>
          <a:bodyPr/>
          <a:lstStyle/>
          <a:p>
            <a:endParaRPr lang="en-US"/>
          </a:p>
        </p:txBody>
      </p:sp>
      <p:sp>
        <p:nvSpPr>
          <p:cNvPr id="21" name="AutoShape 21"/>
          <p:cNvSpPr/>
          <p:nvPr/>
        </p:nvSpPr>
        <p:spPr>
          <a:xfrm>
            <a:off x="1028700" y="9258300"/>
            <a:ext cx="4933950" cy="0"/>
          </a:xfrm>
          <a:prstGeom prst="line">
            <a:avLst/>
          </a:prstGeom>
          <a:ln w="9525" cap="flat">
            <a:solidFill>
              <a:srgbClr val="FFFFFF"/>
            </a:solidFill>
            <a:prstDash val="solid"/>
            <a:headEnd type="none" w="sm" len="sm"/>
            <a:tailEnd type="none" w="sm" len="sm"/>
          </a:ln>
        </p:spPr>
        <p:txBody>
          <a:bodyPr/>
          <a:lstStyle/>
          <a:p>
            <a:endParaRPr lang="en-US"/>
          </a:p>
        </p:txBody>
      </p:sp>
      <p:sp>
        <p:nvSpPr>
          <p:cNvPr id="22" name="AutoShape 22"/>
          <p:cNvSpPr/>
          <p:nvPr/>
        </p:nvSpPr>
        <p:spPr>
          <a:xfrm>
            <a:off x="6677025" y="3269551"/>
            <a:ext cx="4933950" cy="0"/>
          </a:xfrm>
          <a:prstGeom prst="line">
            <a:avLst/>
          </a:prstGeom>
          <a:ln w="9525" cap="flat">
            <a:solidFill>
              <a:srgbClr val="FFFFFF"/>
            </a:solidFill>
            <a:prstDash val="solid"/>
            <a:headEnd type="none" w="sm" len="sm"/>
            <a:tailEnd type="none" w="sm" len="sm"/>
          </a:ln>
        </p:spPr>
        <p:txBody>
          <a:bodyPr/>
          <a:lstStyle/>
          <a:p>
            <a:endParaRPr lang="en-US"/>
          </a:p>
        </p:txBody>
      </p:sp>
      <p:sp>
        <p:nvSpPr>
          <p:cNvPr id="23" name="AutoShape 23"/>
          <p:cNvSpPr/>
          <p:nvPr/>
        </p:nvSpPr>
        <p:spPr>
          <a:xfrm>
            <a:off x="6677025" y="9258300"/>
            <a:ext cx="4933950" cy="0"/>
          </a:xfrm>
          <a:prstGeom prst="line">
            <a:avLst/>
          </a:prstGeom>
          <a:ln w="9525" cap="flat">
            <a:solidFill>
              <a:srgbClr val="FFFFFF"/>
            </a:solidFill>
            <a:prstDash val="solid"/>
            <a:headEnd type="none" w="sm" len="sm"/>
            <a:tailEnd type="none" w="sm" len="sm"/>
          </a:ln>
        </p:spPr>
        <p:txBody>
          <a:bodyPr/>
          <a:lstStyle/>
          <a:p>
            <a:endParaRPr lang="en-US"/>
          </a:p>
        </p:txBody>
      </p:sp>
      <p:sp>
        <p:nvSpPr>
          <p:cNvPr id="24" name="AutoShape 24"/>
          <p:cNvSpPr/>
          <p:nvPr/>
        </p:nvSpPr>
        <p:spPr>
          <a:xfrm>
            <a:off x="12325350" y="3269551"/>
            <a:ext cx="4933950" cy="0"/>
          </a:xfrm>
          <a:prstGeom prst="line">
            <a:avLst/>
          </a:prstGeom>
          <a:ln w="9525" cap="flat">
            <a:solidFill>
              <a:srgbClr val="FFFFFF"/>
            </a:solidFill>
            <a:prstDash val="solid"/>
            <a:headEnd type="none" w="sm" len="sm"/>
            <a:tailEnd type="none" w="sm" len="sm"/>
          </a:ln>
        </p:spPr>
        <p:txBody>
          <a:bodyPr/>
          <a:lstStyle/>
          <a:p>
            <a:endParaRPr lang="en-US"/>
          </a:p>
        </p:txBody>
      </p:sp>
      <p:sp>
        <p:nvSpPr>
          <p:cNvPr id="25" name="AutoShape 25"/>
          <p:cNvSpPr/>
          <p:nvPr/>
        </p:nvSpPr>
        <p:spPr>
          <a:xfrm>
            <a:off x="12325350" y="9258300"/>
            <a:ext cx="4933950" cy="0"/>
          </a:xfrm>
          <a:prstGeom prst="line">
            <a:avLst/>
          </a:prstGeom>
          <a:ln w="9525" cap="flat">
            <a:solidFill>
              <a:srgbClr val="FFFFFF"/>
            </a:solidFill>
            <a:prstDash val="solid"/>
            <a:headEnd type="none" w="sm" len="sm"/>
            <a:tailEnd type="none" w="sm" len="sm"/>
          </a:ln>
        </p:spPr>
        <p:txBody>
          <a:bodyPr/>
          <a:lstStyle/>
          <a:p>
            <a:endParaRPr lang="en-US"/>
          </a:p>
        </p:txBody>
      </p:sp>
      <p:sp>
        <p:nvSpPr>
          <p:cNvPr id="26" name="TextBox 26"/>
          <p:cNvSpPr txBox="1"/>
          <p:nvPr/>
        </p:nvSpPr>
        <p:spPr>
          <a:xfrm>
            <a:off x="2409349" y="1171575"/>
            <a:ext cx="9201626" cy="954446"/>
          </a:xfrm>
          <a:prstGeom prst="rect">
            <a:avLst/>
          </a:prstGeom>
        </p:spPr>
        <p:txBody>
          <a:bodyPr lIns="0" tIns="0" rIns="0" bIns="0" rtlCol="0" anchor="t">
            <a:spAutoFit/>
          </a:bodyPr>
          <a:lstStyle/>
          <a:p>
            <a:pPr algn="l">
              <a:lnSpc>
                <a:spcPts val="7200"/>
              </a:lnSpc>
            </a:pPr>
            <a:r>
              <a:rPr lang="en-US" sz="7200" b="1">
                <a:solidFill>
                  <a:srgbClr val="FFFFFF"/>
                </a:solidFill>
                <a:latin typeface="Open Sauce Bold"/>
                <a:ea typeface="Open Sauce Bold"/>
                <a:cs typeface="Open Sauce Bold"/>
                <a:sym typeface="Open Sauce Bold"/>
              </a:rPr>
              <a:t>Recomendations</a:t>
            </a:r>
          </a:p>
        </p:txBody>
      </p:sp>
      <p:sp>
        <p:nvSpPr>
          <p:cNvPr id="27" name="TextBox 27"/>
          <p:cNvSpPr txBox="1"/>
          <p:nvPr/>
        </p:nvSpPr>
        <p:spPr>
          <a:xfrm>
            <a:off x="2219325" y="7668578"/>
            <a:ext cx="4190668" cy="1108741"/>
          </a:xfrm>
          <a:prstGeom prst="rect">
            <a:avLst/>
          </a:prstGeom>
        </p:spPr>
        <p:txBody>
          <a:bodyPr lIns="0" tIns="0" rIns="0" bIns="0" rtlCol="0" anchor="t">
            <a:spAutoFit/>
          </a:bodyPr>
          <a:lstStyle/>
          <a:p>
            <a:pPr algn="l">
              <a:lnSpc>
                <a:spcPts val="2940"/>
              </a:lnSpc>
            </a:pPr>
            <a:r>
              <a:rPr lang="en-US" sz="2100">
                <a:solidFill>
                  <a:srgbClr val="FFFFFF"/>
                </a:solidFill>
                <a:latin typeface="TT Interphases"/>
                <a:ea typeface="TT Interphases"/>
                <a:cs typeface="TT Interphases"/>
                <a:sym typeface="TT Interphases"/>
              </a:rPr>
              <a:t>Restricting excessive discounting in loss-making states will protect profit margins.</a:t>
            </a:r>
          </a:p>
        </p:txBody>
      </p:sp>
      <p:sp>
        <p:nvSpPr>
          <p:cNvPr id="28" name="TextBox 28"/>
          <p:cNvSpPr txBox="1"/>
          <p:nvPr/>
        </p:nvSpPr>
        <p:spPr>
          <a:xfrm>
            <a:off x="7867650" y="7668578"/>
            <a:ext cx="3743325" cy="1108741"/>
          </a:xfrm>
          <a:prstGeom prst="rect">
            <a:avLst/>
          </a:prstGeom>
        </p:spPr>
        <p:txBody>
          <a:bodyPr lIns="0" tIns="0" rIns="0" bIns="0" rtlCol="0" anchor="t">
            <a:spAutoFit/>
          </a:bodyPr>
          <a:lstStyle/>
          <a:p>
            <a:pPr algn="l">
              <a:lnSpc>
                <a:spcPts val="2940"/>
              </a:lnSpc>
            </a:pPr>
            <a:r>
              <a:rPr lang="en-US" sz="2100">
                <a:solidFill>
                  <a:srgbClr val="FFFFFF"/>
                </a:solidFill>
                <a:latin typeface="TT Interphases"/>
                <a:ea typeface="TT Interphases"/>
                <a:cs typeface="TT Interphases"/>
                <a:sym typeface="TT Interphases"/>
              </a:rPr>
              <a:t>Reevaluating supply chain costs for low-margin items will improve category profitability.</a:t>
            </a:r>
          </a:p>
        </p:txBody>
      </p:sp>
      <p:sp>
        <p:nvSpPr>
          <p:cNvPr id="29" name="TextBox 29"/>
          <p:cNvSpPr txBox="1"/>
          <p:nvPr/>
        </p:nvSpPr>
        <p:spPr>
          <a:xfrm>
            <a:off x="13515975" y="7668578"/>
            <a:ext cx="4051671" cy="1108741"/>
          </a:xfrm>
          <a:prstGeom prst="rect">
            <a:avLst/>
          </a:prstGeom>
        </p:spPr>
        <p:txBody>
          <a:bodyPr lIns="0" tIns="0" rIns="0" bIns="0" rtlCol="0" anchor="t">
            <a:spAutoFit/>
          </a:bodyPr>
          <a:lstStyle/>
          <a:p>
            <a:pPr algn="l">
              <a:lnSpc>
                <a:spcPts val="2940"/>
              </a:lnSpc>
            </a:pPr>
            <a:r>
              <a:rPr lang="en-US" sz="2100">
                <a:solidFill>
                  <a:srgbClr val="FFFFFF"/>
                </a:solidFill>
                <a:latin typeface="TT Interphases"/>
                <a:ea typeface="TT Interphases"/>
                <a:cs typeface="TT Interphases"/>
                <a:sym typeface="TT Interphases"/>
              </a:rPr>
              <a:t>Integrating the machine learning model at checkout flags unprofitable transactions early.</a:t>
            </a:r>
          </a:p>
        </p:txBody>
      </p:sp>
      <p:sp>
        <p:nvSpPr>
          <p:cNvPr id="30" name="TextBox 30"/>
          <p:cNvSpPr txBox="1"/>
          <p:nvPr/>
        </p:nvSpPr>
        <p:spPr>
          <a:xfrm>
            <a:off x="2219325" y="6727129"/>
            <a:ext cx="3497477" cy="817839"/>
          </a:xfrm>
          <a:prstGeom prst="rect">
            <a:avLst/>
          </a:prstGeom>
        </p:spPr>
        <p:txBody>
          <a:bodyPr lIns="0" tIns="0" rIns="0" bIns="0" rtlCol="0" anchor="t">
            <a:spAutoFit/>
          </a:bodyPr>
          <a:lstStyle/>
          <a:p>
            <a:pPr algn="l">
              <a:lnSpc>
                <a:spcPts val="3219"/>
              </a:lnSpc>
            </a:pPr>
            <a:r>
              <a:rPr lang="en-US" sz="2799" b="1">
                <a:solidFill>
                  <a:srgbClr val="C9F1B7"/>
                </a:solidFill>
                <a:latin typeface="Open Sauce Bold"/>
                <a:ea typeface="Open Sauce Bold"/>
                <a:cs typeface="Open Sauce Bold"/>
                <a:sym typeface="Open Sauce Bold"/>
              </a:rPr>
              <a:t>Regional Discount Restructuring</a:t>
            </a:r>
          </a:p>
        </p:txBody>
      </p:sp>
      <p:sp>
        <p:nvSpPr>
          <p:cNvPr id="31" name="TextBox 31"/>
          <p:cNvSpPr txBox="1"/>
          <p:nvPr/>
        </p:nvSpPr>
        <p:spPr>
          <a:xfrm>
            <a:off x="7867650" y="6927156"/>
            <a:ext cx="3743325" cy="417809"/>
          </a:xfrm>
          <a:prstGeom prst="rect">
            <a:avLst/>
          </a:prstGeom>
        </p:spPr>
        <p:txBody>
          <a:bodyPr lIns="0" tIns="0" rIns="0" bIns="0" rtlCol="0" anchor="t">
            <a:spAutoFit/>
          </a:bodyPr>
          <a:lstStyle/>
          <a:p>
            <a:pPr algn="l">
              <a:lnSpc>
                <a:spcPts val="3219"/>
              </a:lnSpc>
            </a:pPr>
            <a:r>
              <a:rPr lang="en-US" sz="2799" b="1">
                <a:solidFill>
                  <a:srgbClr val="C9F1B7"/>
                </a:solidFill>
                <a:latin typeface="Open Sauce Bold"/>
                <a:ea typeface="Open Sauce Bold"/>
                <a:cs typeface="Open Sauce Bold"/>
                <a:sym typeface="Open Sauce Bold"/>
              </a:rPr>
              <a:t>Furniture Cost Audit</a:t>
            </a:r>
          </a:p>
        </p:txBody>
      </p:sp>
      <p:sp>
        <p:nvSpPr>
          <p:cNvPr id="32" name="TextBox 32"/>
          <p:cNvSpPr txBox="1"/>
          <p:nvPr/>
        </p:nvSpPr>
        <p:spPr>
          <a:xfrm>
            <a:off x="13515975" y="6727129"/>
            <a:ext cx="3827999" cy="817839"/>
          </a:xfrm>
          <a:prstGeom prst="rect">
            <a:avLst/>
          </a:prstGeom>
        </p:spPr>
        <p:txBody>
          <a:bodyPr lIns="0" tIns="0" rIns="0" bIns="0" rtlCol="0" anchor="t">
            <a:spAutoFit/>
          </a:bodyPr>
          <a:lstStyle/>
          <a:p>
            <a:pPr algn="l">
              <a:lnSpc>
                <a:spcPts val="3219"/>
              </a:lnSpc>
            </a:pPr>
            <a:r>
              <a:rPr lang="en-US" sz="2799" b="1">
                <a:solidFill>
                  <a:srgbClr val="C9F1B7"/>
                </a:solidFill>
                <a:latin typeface="Open Sauce Bold"/>
                <a:ea typeface="Open Sauce Bold"/>
                <a:cs typeface="Open Sauce Bold"/>
                <a:sym typeface="Open Sauce Bold"/>
              </a:rPr>
              <a:t>Predictive Order Screening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1006384" y="1051016"/>
            <a:ext cx="1093470" cy="1048839"/>
            <a:chOff x="0" y="0"/>
            <a:chExt cx="622300" cy="596900"/>
          </a:xfrm>
        </p:grpSpPr>
        <p:sp>
          <p:nvSpPr>
            <p:cNvPr id="3" name="Freeform 3"/>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C9F1B7">
                    <a:alpha val="100000"/>
                  </a:srgbClr>
                </a:gs>
                <a:gs pos="100000">
                  <a:srgbClr val="C9F1B8">
                    <a:alpha val="0"/>
                  </a:srgbClr>
                </a:gs>
              </a:gsLst>
              <a:lin ang="0"/>
            </a:gradFill>
          </p:spPr>
          <p:txBody>
            <a:bodyPr/>
            <a:lstStyle/>
            <a:p>
              <a:endParaRPr lang="en-US"/>
            </a:p>
          </p:txBody>
        </p:sp>
        <p:sp>
          <p:nvSpPr>
            <p:cNvPr id="4" name="TextBox 4"/>
            <p:cNvSpPr txBox="1"/>
            <p:nvPr/>
          </p:nvSpPr>
          <p:spPr>
            <a:xfrm>
              <a:off x="0" y="155575"/>
              <a:ext cx="622300" cy="314325"/>
            </a:xfrm>
            <a:prstGeom prst="rect">
              <a:avLst/>
            </a:prstGeom>
          </p:spPr>
          <p:txBody>
            <a:bodyPr lIns="50800" tIns="50800" rIns="50800" bIns="50800" rtlCol="0" anchor="ctr"/>
            <a:lstStyle/>
            <a:p>
              <a:pPr algn="ctr">
                <a:lnSpc>
                  <a:spcPts val="1890"/>
                </a:lnSpc>
              </a:pPr>
              <a:endParaRPr/>
            </a:p>
          </p:txBody>
        </p:sp>
      </p:grpSp>
      <p:sp>
        <p:nvSpPr>
          <p:cNvPr id="5" name="TextBox 5"/>
          <p:cNvSpPr txBox="1"/>
          <p:nvPr/>
        </p:nvSpPr>
        <p:spPr>
          <a:xfrm>
            <a:off x="2409349" y="1171575"/>
            <a:ext cx="9201626" cy="954471"/>
          </a:xfrm>
          <a:prstGeom prst="rect">
            <a:avLst/>
          </a:prstGeom>
        </p:spPr>
        <p:txBody>
          <a:bodyPr lIns="0" tIns="0" rIns="0" bIns="0" rtlCol="0" anchor="t">
            <a:spAutoFit/>
          </a:bodyPr>
          <a:lstStyle/>
          <a:p>
            <a:pPr algn="l">
              <a:lnSpc>
                <a:spcPts val="7200"/>
              </a:lnSpc>
            </a:pPr>
            <a:r>
              <a:rPr lang="en-US" sz="7200" b="1">
                <a:solidFill>
                  <a:srgbClr val="1B322A"/>
                </a:solidFill>
                <a:latin typeface="Open Sauce Bold"/>
                <a:ea typeface="Open Sauce Bold"/>
                <a:cs typeface="Open Sauce Bold"/>
                <a:sym typeface="Open Sauce Bold"/>
              </a:rPr>
              <a:t>Forecast</a:t>
            </a:r>
          </a:p>
        </p:txBody>
      </p:sp>
      <p:grpSp>
        <p:nvGrpSpPr>
          <p:cNvPr id="6" name="Group 6"/>
          <p:cNvGrpSpPr/>
          <p:nvPr/>
        </p:nvGrpSpPr>
        <p:grpSpPr>
          <a:xfrm>
            <a:off x="1028700" y="3508629"/>
            <a:ext cx="952500" cy="952500"/>
            <a:chOff x="0" y="0"/>
            <a:chExt cx="713005" cy="713005"/>
          </a:xfrm>
        </p:grpSpPr>
        <p:sp>
          <p:nvSpPr>
            <p:cNvPr id="7" name="Freeform 7"/>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C9F1B7"/>
            </a:solidFill>
          </p:spPr>
          <p:txBody>
            <a:bodyPr/>
            <a:lstStyle/>
            <a:p>
              <a:endParaRPr lang="en-US"/>
            </a:p>
          </p:txBody>
        </p:sp>
        <p:sp>
          <p:nvSpPr>
            <p:cNvPr id="8" name="TextBox 8"/>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01</a:t>
              </a:r>
            </a:p>
          </p:txBody>
        </p:sp>
      </p:grpSp>
      <p:grpSp>
        <p:nvGrpSpPr>
          <p:cNvPr id="9" name="Group 9"/>
          <p:cNvGrpSpPr/>
          <p:nvPr/>
        </p:nvGrpSpPr>
        <p:grpSpPr>
          <a:xfrm>
            <a:off x="6677025" y="3508629"/>
            <a:ext cx="952500" cy="952500"/>
            <a:chOff x="0" y="0"/>
            <a:chExt cx="713005" cy="713005"/>
          </a:xfrm>
        </p:grpSpPr>
        <p:sp>
          <p:nvSpPr>
            <p:cNvPr id="10" name="Freeform 10"/>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C9F1B7"/>
            </a:solidFill>
          </p:spPr>
          <p:txBody>
            <a:bodyPr/>
            <a:lstStyle/>
            <a:p>
              <a:endParaRPr lang="en-US"/>
            </a:p>
          </p:txBody>
        </p:sp>
        <p:sp>
          <p:nvSpPr>
            <p:cNvPr id="11" name="TextBox 11"/>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02</a:t>
              </a:r>
            </a:p>
          </p:txBody>
        </p:sp>
      </p:grpSp>
      <p:grpSp>
        <p:nvGrpSpPr>
          <p:cNvPr id="12" name="Group 12"/>
          <p:cNvGrpSpPr/>
          <p:nvPr/>
        </p:nvGrpSpPr>
        <p:grpSpPr>
          <a:xfrm>
            <a:off x="12325350" y="3508629"/>
            <a:ext cx="952500" cy="952500"/>
            <a:chOff x="0" y="0"/>
            <a:chExt cx="713005" cy="713005"/>
          </a:xfrm>
        </p:grpSpPr>
        <p:sp>
          <p:nvSpPr>
            <p:cNvPr id="13" name="Freeform 13"/>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C9F1B7"/>
            </a:solidFill>
          </p:spPr>
          <p:txBody>
            <a:bodyPr/>
            <a:lstStyle/>
            <a:p>
              <a:endParaRPr lang="en-US"/>
            </a:p>
          </p:txBody>
        </p:sp>
        <p:sp>
          <p:nvSpPr>
            <p:cNvPr id="14" name="TextBox 14"/>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03</a:t>
              </a:r>
            </a:p>
          </p:txBody>
        </p:sp>
      </p:grpSp>
      <p:grpSp>
        <p:nvGrpSpPr>
          <p:cNvPr id="15" name="Group 15"/>
          <p:cNvGrpSpPr/>
          <p:nvPr/>
        </p:nvGrpSpPr>
        <p:grpSpPr>
          <a:xfrm>
            <a:off x="-115223" y="5786547"/>
            <a:ext cx="18518447" cy="4632137"/>
            <a:chOff x="0" y="0"/>
            <a:chExt cx="2868992" cy="717639"/>
          </a:xfrm>
        </p:grpSpPr>
        <p:sp>
          <p:nvSpPr>
            <p:cNvPr id="16" name="Freeform 16"/>
            <p:cNvSpPr/>
            <p:nvPr/>
          </p:nvSpPr>
          <p:spPr>
            <a:xfrm>
              <a:off x="0" y="0"/>
              <a:ext cx="2868992" cy="717639"/>
            </a:xfrm>
            <a:custGeom>
              <a:avLst/>
              <a:gdLst/>
              <a:ahLst/>
              <a:cxnLst/>
              <a:rect l="l" t="t" r="r" b="b"/>
              <a:pathLst>
                <a:path w="2868992" h="717639">
                  <a:moveTo>
                    <a:pt x="0" y="0"/>
                  </a:moveTo>
                  <a:lnTo>
                    <a:pt x="2868992" y="0"/>
                  </a:lnTo>
                  <a:lnTo>
                    <a:pt x="2868992" y="717639"/>
                  </a:lnTo>
                  <a:lnTo>
                    <a:pt x="0" y="717639"/>
                  </a:lnTo>
                  <a:close/>
                </a:path>
              </a:pathLst>
            </a:custGeom>
            <a:blipFill>
              <a:blip r:embed="rId2"/>
              <a:stretch>
                <a:fillRect t="-78052" b="-88711"/>
              </a:stretch>
            </a:blipFill>
          </p:spPr>
          <p:txBody>
            <a:bodyPr/>
            <a:lstStyle/>
            <a:p>
              <a:endParaRPr lang="en-US"/>
            </a:p>
          </p:txBody>
        </p:sp>
      </p:grpSp>
      <p:sp>
        <p:nvSpPr>
          <p:cNvPr id="17" name="AutoShape 17"/>
          <p:cNvSpPr/>
          <p:nvPr/>
        </p:nvSpPr>
        <p:spPr>
          <a:xfrm>
            <a:off x="1028700" y="3269551"/>
            <a:ext cx="4933950" cy="0"/>
          </a:xfrm>
          <a:prstGeom prst="line">
            <a:avLst/>
          </a:prstGeom>
          <a:ln w="9525" cap="flat">
            <a:solidFill>
              <a:srgbClr val="1B322A"/>
            </a:solidFill>
            <a:prstDash val="solid"/>
            <a:headEnd type="none" w="sm" len="sm"/>
            <a:tailEnd type="none" w="sm" len="sm"/>
          </a:ln>
        </p:spPr>
        <p:txBody>
          <a:bodyPr/>
          <a:lstStyle/>
          <a:p>
            <a:endParaRPr lang="en-US"/>
          </a:p>
        </p:txBody>
      </p:sp>
      <p:sp>
        <p:nvSpPr>
          <p:cNvPr id="18" name="AutoShape 18"/>
          <p:cNvSpPr/>
          <p:nvPr/>
        </p:nvSpPr>
        <p:spPr>
          <a:xfrm>
            <a:off x="1028700" y="5310297"/>
            <a:ext cx="4933950" cy="0"/>
          </a:xfrm>
          <a:prstGeom prst="line">
            <a:avLst/>
          </a:prstGeom>
          <a:ln w="9525" cap="flat">
            <a:solidFill>
              <a:srgbClr val="1B322A"/>
            </a:solidFill>
            <a:prstDash val="solid"/>
            <a:headEnd type="none" w="sm" len="sm"/>
            <a:tailEnd type="none" w="sm" len="sm"/>
          </a:ln>
        </p:spPr>
        <p:txBody>
          <a:bodyPr/>
          <a:lstStyle/>
          <a:p>
            <a:endParaRPr lang="en-US"/>
          </a:p>
        </p:txBody>
      </p:sp>
      <p:sp>
        <p:nvSpPr>
          <p:cNvPr id="19" name="AutoShape 19"/>
          <p:cNvSpPr/>
          <p:nvPr/>
        </p:nvSpPr>
        <p:spPr>
          <a:xfrm>
            <a:off x="6677025" y="3269551"/>
            <a:ext cx="4933950" cy="0"/>
          </a:xfrm>
          <a:prstGeom prst="line">
            <a:avLst/>
          </a:prstGeom>
          <a:ln w="9525" cap="flat">
            <a:solidFill>
              <a:srgbClr val="1B322A"/>
            </a:solidFill>
            <a:prstDash val="solid"/>
            <a:headEnd type="none" w="sm" len="sm"/>
            <a:tailEnd type="none" w="sm" len="sm"/>
          </a:ln>
        </p:spPr>
        <p:txBody>
          <a:bodyPr/>
          <a:lstStyle/>
          <a:p>
            <a:endParaRPr lang="en-US"/>
          </a:p>
        </p:txBody>
      </p:sp>
      <p:sp>
        <p:nvSpPr>
          <p:cNvPr id="20" name="AutoShape 20"/>
          <p:cNvSpPr/>
          <p:nvPr/>
        </p:nvSpPr>
        <p:spPr>
          <a:xfrm>
            <a:off x="6677025" y="5310297"/>
            <a:ext cx="4933950" cy="0"/>
          </a:xfrm>
          <a:prstGeom prst="line">
            <a:avLst/>
          </a:prstGeom>
          <a:ln w="9525" cap="flat">
            <a:solidFill>
              <a:srgbClr val="1B322A"/>
            </a:solidFill>
            <a:prstDash val="solid"/>
            <a:headEnd type="none" w="sm" len="sm"/>
            <a:tailEnd type="none" w="sm" len="sm"/>
          </a:ln>
        </p:spPr>
        <p:txBody>
          <a:bodyPr/>
          <a:lstStyle/>
          <a:p>
            <a:endParaRPr lang="en-US"/>
          </a:p>
        </p:txBody>
      </p:sp>
      <p:sp>
        <p:nvSpPr>
          <p:cNvPr id="21" name="AutoShape 21"/>
          <p:cNvSpPr/>
          <p:nvPr/>
        </p:nvSpPr>
        <p:spPr>
          <a:xfrm>
            <a:off x="12325350" y="3269551"/>
            <a:ext cx="4933950" cy="0"/>
          </a:xfrm>
          <a:prstGeom prst="line">
            <a:avLst/>
          </a:prstGeom>
          <a:ln w="9525" cap="flat">
            <a:solidFill>
              <a:srgbClr val="1B322A"/>
            </a:solidFill>
            <a:prstDash val="solid"/>
            <a:headEnd type="none" w="sm" len="sm"/>
            <a:tailEnd type="none" w="sm" len="sm"/>
          </a:ln>
        </p:spPr>
        <p:txBody>
          <a:bodyPr/>
          <a:lstStyle/>
          <a:p>
            <a:endParaRPr lang="en-US"/>
          </a:p>
        </p:txBody>
      </p:sp>
      <p:sp>
        <p:nvSpPr>
          <p:cNvPr id="22" name="AutoShape 22"/>
          <p:cNvSpPr/>
          <p:nvPr/>
        </p:nvSpPr>
        <p:spPr>
          <a:xfrm>
            <a:off x="12325350" y="5310297"/>
            <a:ext cx="4933950" cy="0"/>
          </a:xfrm>
          <a:prstGeom prst="line">
            <a:avLst/>
          </a:prstGeom>
          <a:ln w="9525" cap="flat">
            <a:solidFill>
              <a:srgbClr val="1B322A"/>
            </a:solidFill>
            <a:prstDash val="solid"/>
            <a:headEnd type="none" w="sm" len="sm"/>
            <a:tailEnd type="none" w="sm" len="sm"/>
          </a:ln>
        </p:spPr>
        <p:txBody>
          <a:bodyPr/>
          <a:lstStyle/>
          <a:p>
            <a:endParaRPr lang="en-US"/>
          </a:p>
        </p:txBody>
      </p:sp>
      <p:sp>
        <p:nvSpPr>
          <p:cNvPr id="23" name="TextBox 23"/>
          <p:cNvSpPr txBox="1"/>
          <p:nvPr/>
        </p:nvSpPr>
        <p:spPr>
          <a:xfrm>
            <a:off x="2219325" y="3580557"/>
            <a:ext cx="3743325" cy="834445"/>
          </a:xfrm>
          <a:prstGeom prst="rect">
            <a:avLst/>
          </a:prstGeom>
        </p:spPr>
        <p:txBody>
          <a:bodyPr lIns="0" tIns="0" rIns="0" bIns="0" rtlCol="0" anchor="t">
            <a:spAutoFit/>
          </a:bodyPr>
          <a:lstStyle/>
          <a:p>
            <a:pPr algn="l">
              <a:lnSpc>
                <a:spcPts val="3359"/>
              </a:lnSpc>
            </a:pPr>
            <a:r>
              <a:rPr lang="en-US" sz="2399" b="1">
                <a:solidFill>
                  <a:srgbClr val="1B322A"/>
                </a:solidFill>
                <a:latin typeface="TT Interphases Bold"/>
                <a:ea typeface="TT Interphases Bold"/>
                <a:cs typeface="TT Interphases Bold"/>
                <a:sym typeface="TT Interphases Bold"/>
              </a:rPr>
              <a:t>Data Preprocessing &amp; Pipeline Setup</a:t>
            </a:r>
          </a:p>
        </p:txBody>
      </p:sp>
      <p:sp>
        <p:nvSpPr>
          <p:cNvPr id="24" name="TextBox 24"/>
          <p:cNvSpPr txBox="1"/>
          <p:nvPr/>
        </p:nvSpPr>
        <p:spPr>
          <a:xfrm>
            <a:off x="7867650" y="3580557"/>
            <a:ext cx="3628114" cy="834445"/>
          </a:xfrm>
          <a:prstGeom prst="rect">
            <a:avLst/>
          </a:prstGeom>
        </p:spPr>
        <p:txBody>
          <a:bodyPr lIns="0" tIns="0" rIns="0" bIns="0" rtlCol="0" anchor="t">
            <a:spAutoFit/>
          </a:bodyPr>
          <a:lstStyle/>
          <a:p>
            <a:pPr algn="l">
              <a:lnSpc>
                <a:spcPts val="3359"/>
              </a:lnSpc>
            </a:pPr>
            <a:r>
              <a:rPr lang="en-US" sz="2399" b="1">
                <a:solidFill>
                  <a:srgbClr val="1B322A"/>
                </a:solidFill>
                <a:latin typeface="TT Interphases Bold"/>
                <a:ea typeface="TT Interphases Bold"/>
                <a:cs typeface="TT Interphases Bold"/>
                <a:sym typeface="TT Interphases Bold"/>
              </a:rPr>
              <a:t>Model Training &amp; Evaluation</a:t>
            </a:r>
          </a:p>
        </p:txBody>
      </p:sp>
      <p:sp>
        <p:nvSpPr>
          <p:cNvPr id="25" name="TextBox 25"/>
          <p:cNvSpPr txBox="1"/>
          <p:nvPr/>
        </p:nvSpPr>
        <p:spPr>
          <a:xfrm>
            <a:off x="13515975" y="3580557"/>
            <a:ext cx="3397693" cy="834445"/>
          </a:xfrm>
          <a:prstGeom prst="rect">
            <a:avLst/>
          </a:prstGeom>
        </p:spPr>
        <p:txBody>
          <a:bodyPr lIns="0" tIns="0" rIns="0" bIns="0" rtlCol="0" anchor="t">
            <a:spAutoFit/>
          </a:bodyPr>
          <a:lstStyle/>
          <a:p>
            <a:pPr algn="l">
              <a:lnSpc>
                <a:spcPts val="3359"/>
              </a:lnSpc>
            </a:pPr>
            <a:r>
              <a:rPr lang="en-US" sz="2399" b="1">
                <a:solidFill>
                  <a:srgbClr val="1B322A"/>
                </a:solidFill>
                <a:latin typeface="TT Interphases Bold"/>
                <a:ea typeface="TT Interphases Bold"/>
                <a:cs typeface="TT Interphases Bold"/>
                <a:sym typeface="TT Interphases Bold"/>
              </a:rPr>
              <a:t>Profit Prediction &amp; App Integration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52450" y="552450"/>
            <a:ext cx="8591550" cy="9182100"/>
            <a:chOff x="0" y="0"/>
            <a:chExt cx="6431302" cy="6873365"/>
          </a:xfrm>
        </p:grpSpPr>
        <p:sp>
          <p:nvSpPr>
            <p:cNvPr id="3" name="Freeform 3"/>
            <p:cNvSpPr/>
            <p:nvPr/>
          </p:nvSpPr>
          <p:spPr>
            <a:xfrm>
              <a:off x="0" y="0"/>
              <a:ext cx="6431302" cy="6873365"/>
            </a:xfrm>
            <a:custGeom>
              <a:avLst/>
              <a:gdLst/>
              <a:ahLst/>
              <a:cxnLst/>
              <a:rect l="l" t="t" r="r" b="b"/>
              <a:pathLst>
                <a:path w="6431302" h="6873365">
                  <a:moveTo>
                    <a:pt x="18022" y="0"/>
                  </a:moveTo>
                  <a:lnTo>
                    <a:pt x="6413280" y="0"/>
                  </a:lnTo>
                  <a:cubicBezTo>
                    <a:pt x="6418060" y="0"/>
                    <a:pt x="6422644" y="1899"/>
                    <a:pt x="6426024" y="5279"/>
                  </a:cubicBezTo>
                  <a:cubicBezTo>
                    <a:pt x="6429404" y="8658"/>
                    <a:pt x="6431302" y="13242"/>
                    <a:pt x="6431302" y="18022"/>
                  </a:cubicBezTo>
                  <a:lnTo>
                    <a:pt x="6431302" y="6855343"/>
                  </a:lnTo>
                  <a:cubicBezTo>
                    <a:pt x="6431302" y="6865296"/>
                    <a:pt x="6423234" y="6873365"/>
                    <a:pt x="6413280" y="6873365"/>
                  </a:cubicBezTo>
                  <a:lnTo>
                    <a:pt x="18022" y="6873365"/>
                  </a:lnTo>
                  <a:cubicBezTo>
                    <a:pt x="8069" y="6873365"/>
                    <a:pt x="0" y="6865296"/>
                    <a:pt x="0" y="6855343"/>
                  </a:cubicBezTo>
                  <a:lnTo>
                    <a:pt x="0" y="18022"/>
                  </a:lnTo>
                  <a:cubicBezTo>
                    <a:pt x="0" y="8069"/>
                    <a:pt x="8069" y="0"/>
                    <a:pt x="18022" y="0"/>
                  </a:cubicBezTo>
                  <a:close/>
                </a:path>
              </a:pathLst>
            </a:custGeom>
            <a:solidFill>
              <a:srgbClr val="1B322A"/>
            </a:solidFill>
          </p:spPr>
          <p:txBody>
            <a:bodyPr/>
            <a:lstStyle/>
            <a:p>
              <a:endParaRPr lang="en-US"/>
            </a:p>
          </p:txBody>
        </p:sp>
        <p:sp>
          <p:nvSpPr>
            <p:cNvPr id="4" name="TextBox 4"/>
            <p:cNvSpPr txBox="1"/>
            <p:nvPr/>
          </p:nvSpPr>
          <p:spPr>
            <a:xfrm>
              <a:off x="0" y="19050"/>
              <a:ext cx="6431302" cy="6854315"/>
            </a:xfrm>
            <a:prstGeom prst="rect">
              <a:avLst/>
            </a:prstGeom>
          </p:spPr>
          <p:txBody>
            <a:bodyPr lIns="0" tIns="0" rIns="0" bIns="0" rtlCol="0" anchor="ctr"/>
            <a:lstStyle/>
            <a:p>
              <a:pPr algn="ctr">
                <a:lnSpc>
                  <a:spcPts val="2519"/>
                </a:lnSpc>
              </a:pPr>
              <a:endParaRPr/>
            </a:p>
          </p:txBody>
        </p:sp>
      </p:grpSp>
      <p:grpSp>
        <p:nvGrpSpPr>
          <p:cNvPr id="5" name="Group 5"/>
          <p:cNvGrpSpPr/>
          <p:nvPr/>
        </p:nvGrpSpPr>
        <p:grpSpPr>
          <a:xfrm rot="5400000">
            <a:off x="1006384" y="1051016"/>
            <a:ext cx="1093470" cy="1048839"/>
            <a:chOff x="0" y="0"/>
            <a:chExt cx="622300" cy="596900"/>
          </a:xfrm>
        </p:grpSpPr>
        <p:sp>
          <p:nvSpPr>
            <p:cNvPr id="6" name="Freeform 6"/>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C9F1B7">
                    <a:alpha val="100000"/>
                  </a:srgbClr>
                </a:gs>
                <a:gs pos="100000">
                  <a:srgbClr val="C9F1B8">
                    <a:alpha val="0"/>
                  </a:srgbClr>
                </a:gs>
              </a:gsLst>
              <a:lin ang="0"/>
            </a:gradFill>
          </p:spPr>
          <p:txBody>
            <a:bodyPr/>
            <a:lstStyle/>
            <a:p>
              <a:endParaRPr lang="en-US"/>
            </a:p>
          </p:txBody>
        </p:sp>
        <p:sp>
          <p:nvSpPr>
            <p:cNvPr id="7" name="TextBox 7"/>
            <p:cNvSpPr txBox="1"/>
            <p:nvPr/>
          </p:nvSpPr>
          <p:spPr>
            <a:xfrm>
              <a:off x="0" y="155575"/>
              <a:ext cx="622300" cy="314325"/>
            </a:xfrm>
            <a:prstGeom prst="rect">
              <a:avLst/>
            </a:prstGeom>
          </p:spPr>
          <p:txBody>
            <a:bodyPr lIns="50800" tIns="50800" rIns="50800" bIns="50800" rtlCol="0" anchor="ctr"/>
            <a:lstStyle/>
            <a:p>
              <a:pPr algn="ctr">
                <a:lnSpc>
                  <a:spcPts val="1890"/>
                </a:lnSpc>
              </a:pPr>
              <a:endParaRPr/>
            </a:p>
          </p:txBody>
        </p:sp>
      </p:grpSp>
      <p:grpSp>
        <p:nvGrpSpPr>
          <p:cNvPr id="8" name="Group 8"/>
          <p:cNvGrpSpPr/>
          <p:nvPr/>
        </p:nvGrpSpPr>
        <p:grpSpPr>
          <a:xfrm>
            <a:off x="10096500" y="1432197"/>
            <a:ext cx="952500" cy="952500"/>
            <a:chOff x="0" y="0"/>
            <a:chExt cx="713005" cy="713005"/>
          </a:xfrm>
        </p:grpSpPr>
        <p:sp>
          <p:nvSpPr>
            <p:cNvPr id="9" name="Freeform 9"/>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C9F1B7"/>
            </a:solidFill>
          </p:spPr>
          <p:txBody>
            <a:bodyPr/>
            <a:lstStyle/>
            <a:p>
              <a:endParaRPr lang="en-US"/>
            </a:p>
          </p:txBody>
        </p:sp>
        <p:sp>
          <p:nvSpPr>
            <p:cNvPr id="10" name="TextBox 10"/>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01</a:t>
              </a:r>
            </a:p>
          </p:txBody>
        </p:sp>
      </p:grpSp>
      <p:sp>
        <p:nvSpPr>
          <p:cNvPr id="11" name="AutoShape 11"/>
          <p:cNvSpPr/>
          <p:nvPr/>
        </p:nvSpPr>
        <p:spPr>
          <a:xfrm>
            <a:off x="10096500" y="1033462"/>
            <a:ext cx="7162800" cy="0"/>
          </a:xfrm>
          <a:prstGeom prst="line">
            <a:avLst/>
          </a:prstGeom>
          <a:ln w="9525" cap="flat">
            <a:solidFill>
              <a:srgbClr val="1B322A"/>
            </a:solidFill>
            <a:prstDash val="solid"/>
            <a:headEnd type="none" w="sm" len="sm"/>
            <a:tailEnd type="none" w="sm" len="sm"/>
          </a:ln>
        </p:spPr>
        <p:txBody>
          <a:bodyPr/>
          <a:lstStyle/>
          <a:p>
            <a:endParaRPr lang="en-US"/>
          </a:p>
        </p:txBody>
      </p:sp>
      <p:grpSp>
        <p:nvGrpSpPr>
          <p:cNvPr id="12" name="Group 12"/>
          <p:cNvGrpSpPr/>
          <p:nvPr/>
        </p:nvGrpSpPr>
        <p:grpSpPr>
          <a:xfrm>
            <a:off x="10096500" y="4425950"/>
            <a:ext cx="952500" cy="952500"/>
            <a:chOff x="0" y="0"/>
            <a:chExt cx="713005" cy="713005"/>
          </a:xfrm>
        </p:grpSpPr>
        <p:sp>
          <p:nvSpPr>
            <p:cNvPr id="13" name="Freeform 13"/>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C9F1B7"/>
            </a:solidFill>
          </p:spPr>
          <p:txBody>
            <a:bodyPr/>
            <a:lstStyle/>
            <a:p>
              <a:endParaRPr lang="en-US"/>
            </a:p>
          </p:txBody>
        </p:sp>
        <p:sp>
          <p:nvSpPr>
            <p:cNvPr id="14" name="TextBox 14"/>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02</a:t>
              </a:r>
            </a:p>
          </p:txBody>
        </p:sp>
      </p:grpSp>
      <p:sp>
        <p:nvSpPr>
          <p:cNvPr id="15" name="AutoShape 15"/>
          <p:cNvSpPr/>
          <p:nvPr/>
        </p:nvSpPr>
        <p:spPr>
          <a:xfrm>
            <a:off x="10096500" y="3773488"/>
            <a:ext cx="7162800" cy="0"/>
          </a:xfrm>
          <a:prstGeom prst="line">
            <a:avLst/>
          </a:prstGeom>
          <a:ln w="9525" cap="flat">
            <a:solidFill>
              <a:srgbClr val="1B322A"/>
            </a:solidFill>
            <a:prstDash val="solid"/>
            <a:headEnd type="none" w="sm" len="sm"/>
            <a:tailEnd type="none" w="sm" len="sm"/>
          </a:ln>
        </p:spPr>
        <p:txBody>
          <a:bodyPr/>
          <a:lstStyle/>
          <a:p>
            <a:endParaRPr lang="en-US"/>
          </a:p>
        </p:txBody>
      </p:sp>
      <p:grpSp>
        <p:nvGrpSpPr>
          <p:cNvPr id="16" name="Group 16"/>
          <p:cNvGrpSpPr/>
          <p:nvPr/>
        </p:nvGrpSpPr>
        <p:grpSpPr>
          <a:xfrm>
            <a:off x="10096500" y="6752590"/>
            <a:ext cx="952500" cy="952500"/>
            <a:chOff x="0" y="0"/>
            <a:chExt cx="713005" cy="713005"/>
          </a:xfrm>
        </p:grpSpPr>
        <p:sp>
          <p:nvSpPr>
            <p:cNvPr id="17" name="Freeform 17"/>
            <p:cNvSpPr/>
            <p:nvPr/>
          </p:nvSpPr>
          <p:spPr>
            <a:xfrm>
              <a:off x="0" y="0"/>
              <a:ext cx="713005" cy="713005"/>
            </a:xfrm>
            <a:custGeom>
              <a:avLst/>
              <a:gdLst/>
              <a:ahLst/>
              <a:cxnLst/>
              <a:rect l="l" t="t" r="r" b="b"/>
              <a:pathLst>
                <a:path w="713005" h="713005">
                  <a:moveTo>
                    <a:pt x="162560" y="0"/>
                  </a:moveTo>
                  <a:lnTo>
                    <a:pt x="550445" y="0"/>
                  </a:lnTo>
                  <a:cubicBezTo>
                    <a:pt x="593558" y="0"/>
                    <a:pt x="634906" y="17127"/>
                    <a:pt x="665392" y="47613"/>
                  </a:cubicBezTo>
                  <a:cubicBezTo>
                    <a:pt x="695878" y="78099"/>
                    <a:pt x="713005" y="119446"/>
                    <a:pt x="713005" y="162560"/>
                  </a:cubicBezTo>
                  <a:lnTo>
                    <a:pt x="713005" y="550445"/>
                  </a:lnTo>
                  <a:cubicBezTo>
                    <a:pt x="713005" y="640224"/>
                    <a:pt x="640224" y="713005"/>
                    <a:pt x="550445" y="713005"/>
                  </a:cubicBezTo>
                  <a:lnTo>
                    <a:pt x="162560" y="713005"/>
                  </a:lnTo>
                  <a:cubicBezTo>
                    <a:pt x="72781" y="713005"/>
                    <a:pt x="0" y="640224"/>
                    <a:pt x="0" y="550445"/>
                  </a:cubicBezTo>
                  <a:lnTo>
                    <a:pt x="0" y="162560"/>
                  </a:lnTo>
                  <a:cubicBezTo>
                    <a:pt x="0" y="72781"/>
                    <a:pt x="72781" y="0"/>
                    <a:pt x="162560" y="0"/>
                  </a:cubicBezTo>
                  <a:close/>
                </a:path>
              </a:pathLst>
            </a:custGeom>
            <a:solidFill>
              <a:srgbClr val="C9F1B7"/>
            </a:solidFill>
          </p:spPr>
          <p:txBody>
            <a:bodyPr/>
            <a:lstStyle/>
            <a:p>
              <a:endParaRPr lang="en-US"/>
            </a:p>
          </p:txBody>
        </p:sp>
        <p:sp>
          <p:nvSpPr>
            <p:cNvPr id="18" name="TextBox 18"/>
            <p:cNvSpPr txBox="1"/>
            <p:nvPr/>
          </p:nvSpPr>
          <p:spPr>
            <a:xfrm>
              <a:off x="0" y="19050"/>
              <a:ext cx="713005" cy="693955"/>
            </a:xfrm>
            <a:prstGeom prst="rect">
              <a:avLst/>
            </a:prstGeom>
          </p:spPr>
          <p:txBody>
            <a:bodyPr lIns="0" tIns="0" rIns="0" bIns="0" rtlCol="0" anchor="ctr"/>
            <a:lstStyle/>
            <a:p>
              <a:pPr algn="ctr">
                <a:lnSpc>
                  <a:spcPts val="2519"/>
                </a:lnSpc>
              </a:pPr>
              <a:r>
                <a:rPr lang="en-US" sz="2399">
                  <a:solidFill>
                    <a:srgbClr val="1B322A"/>
                  </a:solidFill>
                  <a:latin typeface="TT Interphases"/>
                  <a:ea typeface="TT Interphases"/>
                  <a:cs typeface="TT Interphases"/>
                  <a:sym typeface="TT Interphases"/>
                </a:rPr>
                <a:t>03</a:t>
              </a:r>
            </a:p>
          </p:txBody>
        </p:sp>
      </p:grpSp>
      <p:sp>
        <p:nvSpPr>
          <p:cNvPr id="19" name="AutoShape 19"/>
          <p:cNvSpPr/>
          <p:nvPr/>
        </p:nvSpPr>
        <p:spPr>
          <a:xfrm>
            <a:off x="10096500" y="6513512"/>
            <a:ext cx="7162800" cy="0"/>
          </a:xfrm>
          <a:prstGeom prst="line">
            <a:avLst/>
          </a:prstGeom>
          <a:ln w="9525" cap="flat">
            <a:solidFill>
              <a:srgbClr val="1B322A"/>
            </a:solidFill>
            <a:prstDash val="solid"/>
            <a:headEnd type="none" w="sm" len="sm"/>
            <a:tailEnd type="none" w="sm" len="sm"/>
          </a:ln>
        </p:spPr>
        <p:txBody>
          <a:bodyPr/>
          <a:lstStyle/>
          <a:p>
            <a:endParaRPr lang="en-US"/>
          </a:p>
        </p:txBody>
      </p:sp>
      <p:sp>
        <p:nvSpPr>
          <p:cNvPr id="20" name="AutoShape 20"/>
          <p:cNvSpPr/>
          <p:nvPr/>
        </p:nvSpPr>
        <p:spPr>
          <a:xfrm>
            <a:off x="10096500" y="9253538"/>
            <a:ext cx="7162800" cy="0"/>
          </a:xfrm>
          <a:prstGeom prst="line">
            <a:avLst/>
          </a:prstGeom>
          <a:ln w="9525" cap="flat">
            <a:solidFill>
              <a:srgbClr val="1B322A"/>
            </a:solidFill>
            <a:prstDash val="solid"/>
            <a:headEnd type="none" w="sm" len="sm"/>
            <a:tailEnd type="none" w="sm" len="sm"/>
          </a:ln>
        </p:spPr>
        <p:txBody>
          <a:bodyPr/>
          <a:lstStyle/>
          <a:p>
            <a:endParaRPr lang="en-US"/>
          </a:p>
        </p:txBody>
      </p:sp>
      <p:grpSp>
        <p:nvGrpSpPr>
          <p:cNvPr id="21" name="Group 21"/>
          <p:cNvGrpSpPr/>
          <p:nvPr/>
        </p:nvGrpSpPr>
        <p:grpSpPr>
          <a:xfrm>
            <a:off x="1028700" y="3773488"/>
            <a:ext cx="7639050" cy="5484812"/>
            <a:chOff x="0" y="0"/>
            <a:chExt cx="1183489" cy="849741"/>
          </a:xfrm>
        </p:grpSpPr>
        <p:sp>
          <p:nvSpPr>
            <p:cNvPr id="22" name="Freeform 22"/>
            <p:cNvSpPr/>
            <p:nvPr/>
          </p:nvSpPr>
          <p:spPr>
            <a:xfrm>
              <a:off x="0" y="0"/>
              <a:ext cx="1183489" cy="849741"/>
            </a:xfrm>
            <a:custGeom>
              <a:avLst/>
              <a:gdLst/>
              <a:ahLst/>
              <a:cxnLst/>
              <a:rect l="l" t="t" r="r" b="b"/>
              <a:pathLst>
                <a:path w="1183489" h="849741">
                  <a:moveTo>
                    <a:pt x="20269" y="0"/>
                  </a:moveTo>
                  <a:lnTo>
                    <a:pt x="1163219" y="0"/>
                  </a:lnTo>
                  <a:cubicBezTo>
                    <a:pt x="1174414" y="0"/>
                    <a:pt x="1183489" y="9075"/>
                    <a:pt x="1183489" y="20269"/>
                  </a:cubicBezTo>
                  <a:lnTo>
                    <a:pt x="1183489" y="829472"/>
                  </a:lnTo>
                  <a:cubicBezTo>
                    <a:pt x="1183489" y="840666"/>
                    <a:pt x="1174414" y="849741"/>
                    <a:pt x="1163219" y="849741"/>
                  </a:cubicBezTo>
                  <a:lnTo>
                    <a:pt x="20269" y="849741"/>
                  </a:lnTo>
                  <a:cubicBezTo>
                    <a:pt x="9075" y="849741"/>
                    <a:pt x="0" y="840666"/>
                    <a:pt x="0" y="829472"/>
                  </a:cubicBezTo>
                  <a:lnTo>
                    <a:pt x="0" y="20269"/>
                  </a:lnTo>
                  <a:cubicBezTo>
                    <a:pt x="0" y="9075"/>
                    <a:pt x="9075" y="0"/>
                    <a:pt x="20269" y="0"/>
                  </a:cubicBezTo>
                  <a:close/>
                </a:path>
              </a:pathLst>
            </a:custGeom>
            <a:blipFill>
              <a:blip r:embed="rId2"/>
              <a:stretch>
                <a:fillRect l="-13821" r="-13821"/>
              </a:stretch>
            </a:blipFill>
          </p:spPr>
          <p:txBody>
            <a:bodyPr/>
            <a:lstStyle/>
            <a:p>
              <a:endParaRPr lang="en-US"/>
            </a:p>
          </p:txBody>
        </p:sp>
      </p:grpSp>
      <p:sp>
        <p:nvSpPr>
          <p:cNvPr id="23" name="TextBox 23"/>
          <p:cNvSpPr txBox="1"/>
          <p:nvPr/>
        </p:nvSpPr>
        <p:spPr>
          <a:xfrm>
            <a:off x="2443317" y="1171575"/>
            <a:ext cx="6224433" cy="954446"/>
          </a:xfrm>
          <a:prstGeom prst="rect">
            <a:avLst/>
          </a:prstGeom>
        </p:spPr>
        <p:txBody>
          <a:bodyPr lIns="0" tIns="0" rIns="0" bIns="0" rtlCol="0" anchor="t">
            <a:spAutoFit/>
          </a:bodyPr>
          <a:lstStyle/>
          <a:p>
            <a:pPr algn="l">
              <a:lnSpc>
                <a:spcPts val="7200"/>
              </a:lnSpc>
            </a:pPr>
            <a:r>
              <a:rPr lang="en-US" sz="7200" b="1">
                <a:solidFill>
                  <a:srgbClr val="FFFFFF"/>
                </a:solidFill>
                <a:latin typeface="Open Sauce Bold"/>
                <a:ea typeface="Open Sauce Bold"/>
                <a:cs typeface="Open Sauce Bold"/>
                <a:sym typeface="Open Sauce Bold"/>
              </a:rPr>
              <a:t>Tech Stack</a:t>
            </a:r>
          </a:p>
        </p:txBody>
      </p:sp>
      <p:sp>
        <p:nvSpPr>
          <p:cNvPr id="24" name="TextBox 24"/>
          <p:cNvSpPr txBox="1"/>
          <p:nvPr/>
        </p:nvSpPr>
        <p:spPr>
          <a:xfrm>
            <a:off x="11410950" y="1451610"/>
            <a:ext cx="5342907" cy="1672700"/>
          </a:xfrm>
          <a:prstGeom prst="rect">
            <a:avLst/>
          </a:prstGeom>
        </p:spPr>
        <p:txBody>
          <a:bodyPr lIns="0" tIns="0" rIns="0" bIns="0" rtlCol="0" anchor="t">
            <a:spAutoFit/>
          </a:bodyPr>
          <a:lstStyle/>
          <a:p>
            <a:pPr algn="l">
              <a:lnSpc>
                <a:spcPts val="3359"/>
              </a:lnSpc>
            </a:pPr>
            <a:r>
              <a:rPr lang="en-US" sz="2399" b="1">
                <a:solidFill>
                  <a:srgbClr val="1B322A"/>
                </a:solidFill>
                <a:latin typeface="TT Interphases Bold"/>
                <a:ea typeface="TT Interphases Bold"/>
                <a:cs typeface="TT Interphases Bold"/>
                <a:sym typeface="TT Interphases Bold"/>
              </a:rPr>
              <a:t>Python </a:t>
            </a:r>
            <a:r>
              <a:rPr lang="en-US" sz="2399">
                <a:solidFill>
                  <a:srgbClr val="1B322A"/>
                </a:solidFill>
                <a:latin typeface="TT Interphases"/>
                <a:ea typeface="TT Interphases"/>
                <a:cs typeface="TT Interphases"/>
                <a:sym typeface="TT Interphases"/>
              </a:rPr>
              <a:t>:  Cleaning, Exploring, Modeling</a:t>
            </a:r>
          </a:p>
          <a:p>
            <a:pPr algn="l">
              <a:lnSpc>
                <a:spcPts val="3359"/>
              </a:lnSpc>
            </a:pPr>
            <a:endParaRPr lang="en-US" sz="2399">
              <a:solidFill>
                <a:srgbClr val="1B322A"/>
              </a:solidFill>
              <a:latin typeface="TT Interphases"/>
              <a:ea typeface="TT Interphases"/>
              <a:cs typeface="TT Interphases"/>
              <a:sym typeface="TT Interphases"/>
            </a:endParaRPr>
          </a:p>
          <a:p>
            <a:pPr algn="l">
              <a:lnSpc>
                <a:spcPts val="3359"/>
              </a:lnSpc>
            </a:pPr>
            <a:r>
              <a:rPr lang="en-US" sz="2399">
                <a:solidFill>
                  <a:srgbClr val="1B322A"/>
                </a:solidFill>
                <a:latin typeface="TT Interphases"/>
                <a:ea typeface="TT Interphases"/>
                <a:cs typeface="TT Interphases"/>
                <a:sym typeface="TT Interphases"/>
              </a:rPr>
              <a:t>Pandas, Matplotlib, Seaborn, Plotly, Stream</a:t>
            </a:r>
          </a:p>
        </p:txBody>
      </p:sp>
      <p:sp>
        <p:nvSpPr>
          <p:cNvPr id="25" name="TextBox 25"/>
          <p:cNvSpPr txBox="1"/>
          <p:nvPr/>
        </p:nvSpPr>
        <p:spPr>
          <a:xfrm>
            <a:off x="11545561" y="4665966"/>
            <a:ext cx="3809160" cy="415318"/>
          </a:xfrm>
          <a:prstGeom prst="rect">
            <a:avLst/>
          </a:prstGeom>
        </p:spPr>
        <p:txBody>
          <a:bodyPr lIns="0" tIns="0" rIns="0" bIns="0" rtlCol="0" anchor="t">
            <a:spAutoFit/>
          </a:bodyPr>
          <a:lstStyle/>
          <a:p>
            <a:pPr algn="l">
              <a:lnSpc>
                <a:spcPts val="3359"/>
              </a:lnSpc>
            </a:pPr>
            <a:r>
              <a:rPr lang="en-US" sz="2399" b="1">
                <a:solidFill>
                  <a:srgbClr val="1B322A"/>
                </a:solidFill>
                <a:latin typeface="TT Interphases Bold"/>
                <a:ea typeface="TT Interphases Bold"/>
                <a:cs typeface="TT Interphases Bold"/>
                <a:sym typeface="TT Interphases Bold"/>
              </a:rPr>
              <a:t>Power Bi </a:t>
            </a:r>
            <a:r>
              <a:rPr lang="en-US" sz="2399">
                <a:solidFill>
                  <a:srgbClr val="1B322A"/>
                </a:solidFill>
                <a:latin typeface="TT Interphases"/>
                <a:ea typeface="TT Interphases"/>
                <a:cs typeface="TT Interphases"/>
                <a:sym typeface="TT Interphases"/>
              </a:rPr>
              <a:t>: Visualization Tool</a:t>
            </a:r>
          </a:p>
        </p:txBody>
      </p:sp>
      <p:sp>
        <p:nvSpPr>
          <p:cNvPr id="26" name="TextBox 26"/>
          <p:cNvSpPr txBox="1"/>
          <p:nvPr/>
        </p:nvSpPr>
        <p:spPr>
          <a:xfrm>
            <a:off x="11545561" y="6813522"/>
            <a:ext cx="3809160" cy="415318"/>
          </a:xfrm>
          <a:prstGeom prst="rect">
            <a:avLst/>
          </a:prstGeom>
        </p:spPr>
        <p:txBody>
          <a:bodyPr lIns="0" tIns="0" rIns="0" bIns="0" rtlCol="0" anchor="t">
            <a:spAutoFit/>
          </a:bodyPr>
          <a:lstStyle/>
          <a:p>
            <a:pPr algn="l">
              <a:lnSpc>
                <a:spcPts val="3359"/>
              </a:lnSpc>
            </a:pPr>
            <a:r>
              <a:rPr lang="en-US" sz="2399" b="1">
                <a:solidFill>
                  <a:srgbClr val="1B322A"/>
                </a:solidFill>
                <a:latin typeface="TT Interphases Bold"/>
                <a:ea typeface="TT Interphases Bold"/>
                <a:cs typeface="TT Interphases Bold"/>
                <a:sym typeface="TT Interphases Bold"/>
              </a:rPr>
              <a:t>Deployment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B322A"/>
        </a:solidFill>
        <a:effectLst/>
      </p:bgPr>
    </p:bg>
    <p:spTree>
      <p:nvGrpSpPr>
        <p:cNvPr id="1" name=""/>
        <p:cNvGrpSpPr/>
        <p:nvPr/>
      </p:nvGrpSpPr>
      <p:grpSpPr>
        <a:xfrm>
          <a:off x="0" y="0"/>
          <a:ext cx="0" cy="0"/>
          <a:chOff x="0" y="0"/>
          <a:chExt cx="0" cy="0"/>
        </a:xfrm>
      </p:grpSpPr>
      <p:sp>
        <p:nvSpPr>
          <p:cNvPr id="2" name="TextBox 2"/>
          <p:cNvSpPr txBox="1"/>
          <p:nvPr/>
        </p:nvSpPr>
        <p:spPr>
          <a:xfrm>
            <a:off x="1028700" y="1390650"/>
            <a:ext cx="9910289" cy="3733800"/>
          </a:xfrm>
          <a:prstGeom prst="rect">
            <a:avLst/>
          </a:prstGeom>
        </p:spPr>
        <p:txBody>
          <a:bodyPr lIns="0" tIns="0" rIns="0" bIns="0" rtlCol="0" anchor="t">
            <a:spAutoFit/>
          </a:bodyPr>
          <a:lstStyle/>
          <a:p>
            <a:pPr algn="l">
              <a:lnSpc>
                <a:spcPts val="14250"/>
              </a:lnSpc>
            </a:pPr>
            <a:r>
              <a:rPr lang="en-US" sz="15000" b="1">
                <a:solidFill>
                  <a:srgbClr val="FFFFFF"/>
                </a:solidFill>
                <a:latin typeface="Open Sauce Bold"/>
                <a:ea typeface="Open Sauce Bold"/>
                <a:cs typeface="Open Sauce Bold"/>
                <a:sym typeface="Open Sauce Bold"/>
              </a:rPr>
              <a:t>THANK </a:t>
            </a:r>
            <a:r>
              <a:rPr lang="en-US" sz="15000" b="1">
                <a:solidFill>
                  <a:srgbClr val="C9F1B7"/>
                </a:solidFill>
                <a:latin typeface="Open Sauce Bold"/>
                <a:ea typeface="Open Sauce Bold"/>
                <a:cs typeface="Open Sauce Bold"/>
                <a:sym typeface="Open Sauce Bold"/>
              </a:rPr>
              <a:t>YOU</a:t>
            </a:r>
          </a:p>
        </p:txBody>
      </p:sp>
      <p:grpSp>
        <p:nvGrpSpPr>
          <p:cNvPr id="3" name="Group 3"/>
          <p:cNvGrpSpPr/>
          <p:nvPr/>
        </p:nvGrpSpPr>
        <p:grpSpPr>
          <a:xfrm rot="5400000">
            <a:off x="11474320" y="1149220"/>
            <a:ext cx="5905500" cy="5664459"/>
            <a:chOff x="0" y="0"/>
            <a:chExt cx="622300" cy="596900"/>
          </a:xfrm>
        </p:grpSpPr>
        <p:sp>
          <p:nvSpPr>
            <p:cNvPr id="4" name="Freeform 4"/>
            <p:cNvSpPr/>
            <p:nvPr/>
          </p:nvSpPr>
          <p:spPr>
            <a:xfrm>
              <a:off x="0" y="0"/>
              <a:ext cx="622300" cy="596900"/>
            </a:xfrm>
            <a:custGeom>
              <a:avLst/>
              <a:gdLst/>
              <a:ahLst/>
              <a:cxnLst/>
              <a:rect l="l" t="t" r="r" b="b"/>
              <a:pathLst>
                <a:path w="622300" h="5969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gradFill rotWithShape="1">
              <a:gsLst>
                <a:gs pos="0">
                  <a:srgbClr val="C9F1B7">
                    <a:alpha val="100000"/>
                  </a:srgbClr>
                </a:gs>
                <a:gs pos="100000">
                  <a:srgbClr val="C9F1B8">
                    <a:alpha val="0"/>
                  </a:srgbClr>
                </a:gs>
              </a:gsLst>
              <a:lin ang="0"/>
            </a:gradFill>
          </p:spPr>
          <p:txBody>
            <a:bodyPr/>
            <a:lstStyle/>
            <a:p>
              <a:endParaRPr lang="en-US"/>
            </a:p>
          </p:txBody>
        </p:sp>
        <p:sp>
          <p:nvSpPr>
            <p:cNvPr id="5" name="TextBox 5"/>
            <p:cNvSpPr txBox="1"/>
            <p:nvPr/>
          </p:nvSpPr>
          <p:spPr>
            <a:xfrm>
              <a:off x="0" y="155575"/>
              <a:ext cx="622300" cy="314325"/>
            </a:xfrm>
            <a:prstGeom prst="rect">
              <a:avLst/>
            </a:prstGeom>
          </p:spPr>
          <p:txBody>
            <a:bodyPr lIns="50800" tIns="50800" rIns="50800" bIns="50800" rtlCol="0" anchor="ctr"/>
            <a:lstStyle/>
            <a:p>
              <a:pPr algn="ctr">
                <a:lnSpc>
                  <a:spcPts val="1890"/>
                </a:lnSpc>
              </a:pPr>
              <a:endParaRPr/>
            </a:p>
          </p:txBody>
        </p:sp>
      </p:grpSp>
      <p:sp>
        <p:nvSpPr>
          <p:cNvPr id="6" name="AutoShape 6"/>
          <p:cNvSpPr/>
          <p:nvPr/>
        </p:nvSpPr>
        <p:spPr>
          <a:xfrm>
            <a:off x="1028700" y="9263062"/>
            <a:ext cx="16230600" cy="0"/>
          </a:xfrm>
          <a:prstGeom prst="line">
            <a:avLst/>
          </a:prstGeom>
          <a:ln w="9525" cap="flat">
            <a:solidFill>
              <a:srgbClr val="FFFFFF"/>
            </a:solidFill>
            <a:prstDash val="solid"/>
            <a:headEnd type="none" w="sm" len="sm"/>
            <a:tailEnd type="none" w="sm" len="sm"/>
          </a:ln>
        </p:spPr>
        <p:txBody>
          <a:bodyPr/>
          <a:lstStyle/>
          <a:p>
            <a:endParaRPr lang="en-US"/>
          </a:p>
        </p:txBody>
      </p:sp>
      <p:sp>
        <p:nvSpPr>
          <p:cNvPr id="7" name="AutoShape 7"/>
          <p:cNvSpPr/>
          <p:nvPr/>
        </p:nvSpPr>
        <p:spPr>
          <a:xfrm>
            <a:off x="1028700" y="8008325"/>
            <a:ext cx="16230600" cy="0"/>
          </a:xfrm>
          <a:prstGeom prst="line">
            <a:avLst/>
          </a:prstGeom>
          <a:ln w="9525" cap="flat">
            <a:solidFill>
              <a:srgbClr val="FFFFFF"/>
            </a:solidFill>
            <a:prstDash val="solid"/>
            <a:headEnd type="none" w="sm" len="sm"/>
            <a:tailEnd type="none" w="sm" len="sm"/>
          </a:ln>
        </p:spPr>
        <p:txBody>
          <a:bodyPr/>
          <a:lstStyle/>
          <a:p>
            <a:endParaRPr lang="en-US"/>
          </a:p>
        </p:txBody>
      </p:sp>
      <p:sp>
        <p:nvSpPr>
          <p:cNvPr id="8" name="Freeform 8"/>
          <p:cNvSpPr/>
          <p:nvPr/>
        </p:nvSpPr>
        <p:spPr>
          <a:xfrm>
            <a:off x="1122538" y="8298509"/>
            <a:ext cx="817714" cy="674370"/>
          </a:xfrm>
          <a:custGeom>
            <a:avLst/>
            <a:gdLst/>
            <a:ahLst/>
            <a:cxnLst/>
            <a:rect l="l" t="t" r="r" b="b"/>
            <a:pathLst>
              <a:path w="817714" h="674370">
                <a:moveTo>
                  <a:pt x="0" y="0"/>
                </a:moveTo>
                <a:lnTo>
                  <a:pt x="817714" y="0"/>
                </a:lnTo>
                <a:lnTo>
                  <a:pt x="817714" y="674370"/>
                </a:lnTo>
                <a:lnTo>
                  <a:pt x="0" y="6743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9" name="TextBox 9"/>
          <p:cNvSpPr txBox="1"/>
          <p:nvPr/>
        </p:nvSpPr>
        <p:spPr>
          <a:xfrm>
            <a:off x="12953052" y="8729021"/>
            <a:ext cx="4094573" cy="243823"/>
          </a:xfrm>
          <a:prstGeom prst="rect">
            <a:avLst/>
          </a:prstGeom>
        </p:spPr>
        <p:txBody>
          <a:bodyPr lIns="0" tIns="0" rIns="0" bIns="0" rtlCol="0" anchor="t">
            <a:spAutoFit/>
          </a:bodyPr>
          <a:lstStyle/>
          <a:p>
            <a:pPr algn="r">
              <a:lnSpc>
                <a:spcPts val="1890"/>
              </a:lnSpc>
            </a:pPr>
            <a:r>
              <a:rPr lang="en-US" sz="1800">
                <a:solidFill>
                  <a:srgbClr val="FFFFFF"/>
                </a:solidFill>
                <a:latin typeface="TT Interphases"/>
                <a:ea typeface="TT Interphases"/>
                <a:cs typeface="TT Interphases"/>
                <a:sym typeface="TT Interphases"/>
              </a:rPr>
              <a:t>WWW.FOX_REPO.COM</a:t>
            </a:r>
          </a:p>
        </p:txBody>
      </p:sp>
      <p:sp>
        <p:nvSpPr>
          <p:cNvPr id="10" name="TextBox 10"/>
          <p:cNvSpPr txBox="1"/>
          <p:nvPr/>
        </p:nvSpPr>
        <p:spPr>
          <a:xfrm>
            <a:off x="2157277" y="8544271"/>
            <a:ext cx="2455159" cy="340964"/>
          </a:xfrm>
          <a:prstGeom prst="rect">
            <a:avLst/>
          </a:prstGeom>
        </p:spPr>
        <p:txBody>
          <a:bodyPr lIns="0" tIns="0" rIns="0" bIns="0" rtlCol="0" anchor="t">
            <a:spAutoFit/>
          </a:bodyPr>
          <a:lstStyle/>
          <a:p>
            <a:pPr algn="l">
              <a:lnSpc>
                <a:spcPts val="2520"/>
              </a:lnSpc>
            </a:pPr>
            <a:r>
              <a:rPr lang="en-US" sz="2400" b="1">
                <a:solidFill>
                  <a:srgbClr val="FFFFFF"/>
                </a:solidFill>
                <a:latin typeface="TT Interphases Bold"/>
                <a:ea typeface="TT Interphases Bold"/>
                <a:cs typeface="TT Interphases Bold"/>
                <a:sym typeface="TT Interphases Bold"/>
              </a:rPr>
              <a:t>TEAM 6</a:t>
            </a:r>
          </a:p>
        </p:txBody>
      </p:sp>
      <p:sp>
        <p:nvSpPr>
          <p:cNvPr id="11" name="TextBox 11"/>
          <p:cNvSpPr txBox="1"/>
          <p:nvPr/>
        </p:nvSpPr>
        <p:spPr>
          <a:xfrm>
            <a:off x="9144000" y="8494724"/>
            <a:ext cx="3589977" cy="478121"/>
          </a:xfrm>
          <a:prstGeom prst="rect">
            <a:avLst/>
          </a:prstGeom>
        </p:spPr>
        <p:txBody>
          <a:bodyPr lIns="0" tIns="0" rIns="0" bIns="0" rtlCol="0" anchor="t">
            <a:spAutoFit/>
          </a:bodyPr>
          <a:lstStyle/>
          <a:p>
            <a:pPr algn="l">
              <a:lnSpc>
                <a:spcPts val="3780"/>
              </a:lnSpc>
            </a:pPr>
            <a:r>
              <a:rPr lang="en-US" sz="3600" b="1">
                <a:solidFill>
                  <a:srgbClr val="C9F1B7"/>
                </a:solidFill>
                <a:latin typeface="TT Interphases Bold"/>
                <a:ea typeface="TT Interphases Bold"/>
                <a:cs typeface="TT Interphases Bold"/>
                <a:sym typeface="TT Interphases Bold"/>
              </a:rPr>
              <a:t>SEPTEMBER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550</Words>
  <Application>Microsoft Office PowerPoint</Application>
  <PresentationFormat>Custom</PresentationFormat>
  <Paragraphs>112</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Open Sauce Bold</vt:lpstr>
      <vt:lpstr>Arial</vt:lpstr>
      <vt:lpstr>TT Interphases Bold</vt:lpstr>
      <vt:lpstr>TT Interphases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Minimalist Sales Report Presentation</dc:title>
  <cp:lastModifiedBy>Mohamed Khalid Kamal Fahiem Hassan Taalab</cp:lastModifiedBy>
  <cp:revision>2</cp:revision>
  <dcterms:created xsi:type="dcterms:W3CDTF">2006-08-16T00:00:00Z</dcterms:created>
  <dcterms:modified xsi:type="dcterms:W3CDTF">2026-09-18T01:53:55Z</dcterms:modified>
  <dc:identifier>DAHVf3FYKUo</dc:identifier>
</cp:coreProperties>
</file>